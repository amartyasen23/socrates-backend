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Source Sans 3 ExtraLight"/>
      <p:regular r:id="rId201314"/>
    </p:embeddedFont>
    <p:embeddedFont>
      <p:font typeface="Source Sans 3 Light"/>
      <p:regular r:id="rId201315"/>
    </p:embeddedFont>
    <p:embeddedFont>
      <p:font typeface="Source Sans 3"/>
      <p:regular r:id="rId201316"/>
    </p:embeddedFont>
    <p:embeddedFont>
      <p:font typeface="Source Sans 3 Medium"/>
      <p:regular r:id="rId201317"/>
    </p:embeddedFont>
    <p:embeddedFont>
      <p:font typeface="Source Sans 3 SemiBold"/>
      <p:regular r:id="rId201318"/>
    </p:embeddedFont>
    <p:embeddedFont>
      <p:font typeface="Source Sans 3 Bold"/>
      <p:regular r:id="rId201319"/>
    </p:embeddedFont>
    <p:embeddedFont>
      <p:font typeface="Source Sans 3 ExtraBold"/>
      <p:regular r:id="rId201320"/>
    </p:embeddedFont>
    <p:embeddedFont>
      <p:font typeface="Source Sans 3 Black"/>
      <p:regular r:id="rId201321"/>
    </p:embeddedFont>
    <p:embeddedFont>
      <p:font typeface="Source Serif 4 ExtraLight"/>
      <p:regular r:id="rId201322"/>
    </p:embeddedFont>
    <p:embeddedFont>
      <p:font typeface="Source Serif 4 Light"/>
      <p:regular r:id="rId201323"/>
    </p:embeddedFont>
    <p:embeddedFont>
      <p:font typeface="Source Serif 4"/>
      <p:regular r:id="rId201324"/>
    </p:embeddedFont>
    <p:embeddedFont>
      <p:font typeface="Source Serif 4 Medium"/>
      <p:regular r:id="rId201325"/>
    </p:embeddedFont>
    <p:embeddedFont>
      <p:font typeface="Source Serif 4 SemiBold"/>
      <p:regular r:id="rId201326"/>
    </p:embeddedFont>
    <p:embeddedFont>
      <p:font typeface="Source Serif 4 Bold"/>
      <p:regular r:id="rId201327"/>
    </p:embeddedFont>
    <p:embeddedFont>
      <p:font typeface="Source Serif 4 ExtraBold"/>
      <p:regular r:id="rId201328"/>
    </p:embeddedFont>
    <p:embeddedFont>
      <p:font typeface="Source Serif 4 Black"/>
      <p:regular r:id="rId2013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7.png"/><Relationship Id="rId10" Type="http://schemas.openxmlformats.org/officeDocument/2006/relationships/image" Target="../media/image-2-8.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jpe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52577" y="378842"/>
            <a:ext cx="2637755" cy="195709"/>
          </a:xfrm>
          <a:prstGeom prst="roundRect">
            <a:avLst>
              <a:gd name="adj" fmla="val 22124"/>
            </a:avLst>
          </a:prstGeom>
          <a:solidFill>
            <a:srgbClr val="F0D4F7"/>
          </a:solidFill>
          <a:ln/>
        </p:spPr>
      </p:sp>
      <p:sp>
        <p:nvSpPr>
          <p:cNvPr id="4" name="Text 1"/>
          <p:cNvSpPr/>
          <p:nvPr/>
        </p:nvSpPr>
        <p:spPr>
          <a:xfrm>
            <a:off x="4029894" y="417463"/>
            <a:ext cx="2940323" cy="118467"/>
          </a:xfrm>
          <a:prstGeom prst="rect">
            <a:avLst/>
          </a:prstGeom>
          <a:noFill/>
          <a:ln/>
        </p:spPr>
        <p:txBody>
          <a:bodyPr wrap="none" lIns="0" tIns="0" rIns="0" bIns="0" rtlCol="0" anchor="t"/>
          <a:lstStyle/>
          <a:p>
            <a:pPr algn="l" indent="0" marL="0">
              <a:lnSpc>
                <a:spcPct val="96000"/>
              </a:lnSpc>
              <a:buNone/>
            </a:pPr>
            <a:r>
              <a:rPr lang="en-US" sz="800" dirty="0">
                <a:solidFill>
                  <a:srgbClr val="272525"/>
                </a:solidFill>
                <a:latin typeface="Source Sans 3" pitchFamily="34" charset="0"/>
                <a:ea typeface="Source Sans 3" pitchFamily="34" charset="-122"/>
                <a:cs typeface="Source Sans 3" pitchFamily="34" charset="-120"/>
              </a:rPr>
              <a:t>INSTITUTIONAL-GRADE AI · PRODUCTION-READY PIPELINE</a:t>
            </a:r>
            <a:endParaRPr lang="en-US" sz="800" dirty="0"/>
          </a:p>
        </p:txBody>
      </p:sp>
      <p:sp>
        <p:nvSpPr>
          <p:cNvPr id="5" name="Text 2"/>
          <p:cNvSpPr/>
          <p:nvPr/>
        </p:nvSpPr>
        <p:spPr>
          <a:xfrm>
            <a:off x="3952577" y="625227"/>
            <a:ext cx="4667845" cy="757982"/>
          </a:xfrm>
          <a:prstGeom prst="rect">
            <a:avLst/>
          </a:prstGeom>
          <a:noFill/>
          <a:ln/>
        </p:spPr>
        <p:txBody>
          <a:bodyPr wrap="square" lIns="0" tIns="0" rIns="0" bIns="0" rtlCol="0" anchor="t">
            <a:normAutofit/>
          </a:bodyPr>
          <a:lstStyle/>
          <a:p>
            <a:pPr algn="l" indent="0" marL="0">
              <a:lnSpc>
                <a:spcPct val="104000"/>
              </a:lnSpc>
              <a:buNone/>
            </a:pPr>
            <a:r>
              <a:rPr lang="en-US" sz="2350" dirty="0">
                <a:solidFill>
                  <a:srgbClr val="000000"/>
                </a:solidFill>
                <a:latin typeface="Source Serif 4 SemiBold" pitchFamily="34" charset="0"/>
                <a:ea typeface="Source Serif 4 SemiBold" pitchFamily="34" charset="-122"/>
                <a:cs typeface="Source Serif 4 SemiBold" pitchFamily="34" charset="-120"/>
              </a:rPr>
              <a:t>Socrates AI: Autonomous Quantitative Research Engine</a:t>
            </a:r>
            <a:endParaRPr lang="en-US" sz="2350" dirty="0"/>
          </a:p>
        </p:txBody>
      </p:sp>
      <p:sp>
        <p:nvSpPr>
          <p:cNvPr id="6" name="Text 3"/>
          <p:cNvSpPr/>
          <p:nvPr/>
        </p:nvSpPr>
        <p:spPr>
          <a:xfrm>
            <a:off x="3952577" y="1573485"/>
            <a:ext cx="4667845" cy="1568946"/>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000000"/>
                </a:solidFill>
                <a:latin typeface="Source Serif 4 SemiBold" pitchFamily="34" charset="0"/>
                <a:ea typeface="Source Serif 4 SemiBold" pitchFamily="34" charset="-122"/>
                <a:cs typeface="Source Serif 4 SemiBold" pitchFamily="34" charset="-120"/>
              </a:rPr>
              <a:t>Institutional-Grade AI Inference &amp; Data Engineering Pipeline</a:t>
            </a:r>
            <a:endParaRPr lang="en-US" sz="3250" dirty="0"/>
          </a:p>
        </p:txBody>
      </p:sp>
      <p:sp>
        <p:nvSpPr>
          <p:cNvPr id="7" name="Text 4"/>
          <p:cNvSpPr/>
          <p:nvPr/>
        </p:nvSpPr>
        <p:spPr>
          <a:xfrm>
            <a:off x="3952577" y="3332708"/>
            <a:ext cx="4667845" cy="1431950"/>
          </a:xfrm>
          <a:prstGeom prst="rect">
            <a:avLst/>
          </a:prstGeom>
          <a:noFill/>
          <a:ln/>
        </p:spPr>
        <p:txBody>
          <a:bodyPr wrap="square" lIns="0" tIns="0" rIns="0" bIns="0" rtlCol="0" anchor="t">
            <a:normAutofit/>
          </a:bodyPr>
          <a:lstStyle/>
          <a:p>
            <a:pPr algn="l" indent="0" marL="0">
              <a:lnSpc>
                <a:spcPct val="132000"/>
              </a:lnSpc>
              <a:buNone/>
            </a:pPr>
            <a:r>
              <a:rPr lang="en-US" sz="1000" dirty="0">
                <a:solidFill>
                  <a:srgbClr val="272525"/>
                </a:solidFill>
                <a:latin typeface="Source Sans 3" pitchFamily="34" charset="0"/>
                <a:ea typeface="Source Sans 3" pitchFamily="34" charset="-122"/>
                <a:cs typeface="Source Sans 3" pitchFamily="34" charset="-120"/>
              </a:rPr>
              <a:t>Socrates AI is a fully autonomous, production-ready data engineering and AI inference pipeline synthesizing structured quantitative stock intelligence at sub-second latencies. Built to meet the rigorous demands of institutional research — not retail dashboards — every architectural decision prioritizes fault tolerance, asynchronous orchestration, and deterministic JSON output suitable for downstream algorithmic consumption. This is not a prototype. This is enterprise-grade infrastructure engineered for scale.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23577" y="383530"/>
            <a:ext cx="1076995" cy="158502"/>
          </a:xfrm>
          <a:prstGeom prst="roundRect">
            <a:avLst>
              <a:gd name="adj" fmla="val 22114"/>
            </a:avLst>
          </a:prstGeom>
          <a:noFill/>
          <a:ln w="4763">
            <a:solidFill>
              <a:srgbClr val="BE49DF"/>
            </a:solidFill>
            <a:prstDash val="solid"/>
          </a:ln>
        </p:spPr>
      </p:sp>
      <p:sp>
        <p:nvSpPr>
          <p:cNvPr id="3" name="Text 1"/>
          <p:cNvSpPr/>
          <p:nvPr/>
        </p:nvSpPr>
        <p:spPr>
          <a:xfrm>
            <a:off x="586160" y="414784"/>
            <a:ext cx="1409030" cy="95994"/>
          </a:xfrm>
          <a:prstGeom prst="rect">
            <a:avLst/>
          </a:prstGeom>
          <a:noFill/>
          <a:ln/>
        </p:spPr>
        <p:txBody>
          <a:bodyPr wrap="none" lIns="0" tIns="0" rIns="0" bIns="0" rtlCol="0" anchor="t"/>
          <a:lstStyle/>
          <a:p>
            <a:pPr algn="l" indent="0" marL="0">
              <a:lnSpc>
                <a:spcPct val="96000"/>
              </a:lnSpc>
              <a:buNone/>
            </a:pPr>
            <a:r>
              <a:rPr lang="en-US" sz="650" dirty="0">
                <a:solidFill>
                  <a:srgbClr val="BE49DF"/>
                </a:solidFill>
                <a:latin typeface="Source Sans 3" pitchFamily="34" charset="0"/>
                <a:ea typeface="Source Sans 3" pitchFamily="34" charset="-122"/>
                <a:cs typeface="Source Sans 3" pitchFamily="34" charset="-120"/>
              </a:rPr>
              <a:t>ARCHITECTURE RATIONALE</a:t>
            </a:r>
            <a:endParaRPr lang="en-US" sz="650" dirty="0"/>
          </a:p>
        </p:txBody>
      </p:sp>
      <p:sp>
        <p:nvSpPr>
          <p:cNvPr id="4" name="Text 2"/>
          <p:cNvSpPr/>
          <p:nvPr/>
        </p:nvSpPr>
        <p:spPr>
          <a:xfrm>
            <a:off x="523577" y="575221"/>
            <a:ext cx="8096845" cy="306809"/>
          </a:xfrm>
          <a:prstGeom prst="rect">
            <a:avLst/>
          </a:prstGeom>
          <a:noFill/>
          <a:ln/>
        </p:spPr>
        <p:txBody>
          <a:bodyPr wrap="none" lIns="0" tIns="0" rIns="0" bIns="0" rtlCol="0" anchor="t"/>
          <a:lstStyle/>
          <a:p>
            <a:pPr algn="l" indent="0" marL="0">
              <a:lnSpc>
                <a:spcPct val="104000"/>
              </a:lnSpc>
              <a:buNone/>
            </a:pPr>
            <a:r>
              <a:rPr lang="en-US" sz="1900" dirty="0">
                <a:solidFill>
                  <a:srgbClr val="000000"/>
                </a:solidFill>
                <a:latin typeface="Source Serif 4 SemiBold" pitchFamily="34" charset="0"/>
                <a:ea typeface="Source Serif 4 SemiBold" pitchFamily="34" charset="-122"/>
                <a:cs typeface="Source Serif 4 SemiBold" pitchFamily="34" charset="-120"/>
              </a:rPr>
              <a:t>Overcoming Retail Quant Architecture Failures</a:t>
            </a:r>
            <a:endParaRPr lang="en-US" sz="1900" dirty="0"/>
          </a:p>
        </p:txBody>
      </p:sp>
      <p:sp>
        <p:nvSpPr>
          <p:cNvPr id="5" name="Text 3"/>
          <p:cNvSpPr/>
          <p:nvPr/>
        </p:nvSpPr>
        <p:spPr>
          <a:xfrm>
            <a:off x="523577" y="1006673"/>
            <a:ext cx="8096845" cy="299889"/>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Most retail-facing quantitative platforms fail under institutional load not because of poor intent, but because of fundamental architectural brittleness. Socrates AI was designed from first principles to eliminate the three most catastrophic failure modes in production quant pipelines.</a:t>
            </a:r>
            <a:endParaRPr lang="en-US" sz="800" dirty="0"/>
          </a:p>
        </p:txBody>
      </p:sp>
      <p:sp>
        <p:nvSpPr>
          <p:cNvPr id="6" name="Shape 4"/>
          <p:cNvSpPr/>
          <p:nvPr/>
        </p:nvSpPr>
        <p:spPr>
          <a:xfrm>
            <a:off x="448419" y="1400026"/>
            <a:ext cx="4071491" cy="3359869"/>
          </a:xfrm>
          <a:prstGeom prst="roundRect">
            <a:avLst>
              <a:gd name="adj" fmla="val 2236"/>
            </a:avLst>
          </a:prstGeom>
          <a:solidFill>
            <a:srgbClr val="BE49DF">
              <a:alpha val="95000"/>
            </a:srgbClr>
          </a:solidFill>
          <a:ln/>
        </p:spPr>
      </p:sp>
      <p:sp>
        <p:nvSpPr>
          <p:cNvPr id="7" name="Text 5"/>
          <p:cNvSpPr/>
          <p:nvPr/>
        </p:nvSpPr>
        <p:spPr>
          <a:xfrm>
            <a:off x="552673" y="1483147"/>
            <a:ext cx="3862983" cy="153367"/>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950" dirty="0">
                <a:solidFill>
                  <a:srgbClr val="000000"/>
                </a:solidFill>
                <a:latin typeface="Source Serif 4 SemiBold" pitchFamily="34" charset="0"/>
                <a:ea typeface="Source Serif 4 SemiBold" pitchFamily="34" charset="-122"/>
                <a:cs typeface="Source Serif 4 SemiBold" pitchFamily="34" charset="-120"/>
              </a:rPr>
              <a:t> Traditional System Failures</a:t>
            </a:r>
            <a:endParaRPr lang="en-US" sz="9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2673" y="1729978"/>
            <a:ext cx="3862983" cy="923404"/>
          </a:xfrm>
          <a:prstGeom prst="rect">
            <a:avLst/>
          </a:prstGeom>
        </p:spPr>
      </p:pic>
      <p:sp>
        <p:nvSpPr>
          <p:cNvPr id="9" name="Text 6"/>
          <p:cNvSpPr/>
          <p:nvPr/>
        </p:nvSpPr>
        <p:spPr>
          <a:xfrm>
            <a:off x="728365" y="1848520"/>
            <a:ext cx="3568750" cy="153367"/>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Source Serif 4 SemiBold" pitchFamily="34" charset="0"/>
                <a:ea typeface="Source Serif 4 SemiBold" pitchFamily="34" charset="-122"/>
                <a:cs typeface="Source Serif 4 SemiBold" pitchFamily="34" charset="-120"/>
              </a:rPr>
              <a:t>API Brittleness</a:t>
            </a:r>
            <a:endParaRPr lang="en-US" sz="950" dirty="0"/>
          </a:p>
        </p:txBody>
      </p:sp>
      <p:sp>
        <p:nvSpPr>
          <p:cNvPr id="10" name="Text 7"/>
          <p:cNvSpPr/>
          <p:nvPr/>
        </p:nvSpPr>
        <p:spPr>
          <a:xfrm>
            <a:off x="728365" y="2085008"/>
            <a:ext cx="3568750" cy="449833"/>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000000"/>
                </a:solidFill>
                <a:latin typeface="Source Sans 3" pitchFamily="34" charset="0"/>
                <a:ea typeface="Source Sans 3" pitchFamily="34" charset="-122"/>
                <a:cs typeface="Source Sans 3" pitchFamily="34" charset="-120"/>
              </a:rPr>
              <a:t>Cloud servers face aggressive IP bans and WAF throttling under concurrent request patterns. Single-point API dependencies collapse entire pipelines without graceful degradation.</a:t>
            </a:r>
            <a:endParaRPr lang="en-US" sz="8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673" y="2736503"/>
            <a:ext cx="3862983" cy="923404"/>
          </a:xfrm>
          <a:prstGeom prst="rect">
            <a:avLst/>
          </a:prstGeom>
        </p:spPr>
      </p:pic>
      <p:sp>
        <p:nvSpPr>
          <p:cNvPr id="12" name="Text 8"/>
          <p:cNvSpPr/>
          <p:nvPr/>
        </p:nvSpPr>
        <p:spPr>
          <a:xfrm>
            <a:off x="728365" y="2855044"/>
            <a:ext cx="3568750" cy="153367"/>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Source Serif 4 SemiBold" pitchFamily="34" charset="0"/>
                <a:ea typeface="Source Serif 4 SemiBold" pitchFamily="34" charset="-122"/>
                <a:cs typeface="Source Serif 4 SemiBold" pitchFamily="34" charset="-120"/>
              </a:rPr>
              <a:t>Synthetic Valuation Errors</a:t>
            </a:r>
            <a:endParaRPr lang="en-US" sz="950" dirty="0"/>
          </a:p>
        </p:txBody>
      </p:sp>
      <p:sp>
        <p:nvSpPr>
          <p:cNvPr id="13" name="Text 9"/>
          <p:cNvSpPr/>
          <p:nvPr/>
        </p:nvSpPr>
        <p:spPr>
          <a:xfrm>
            <a:off x="728365" y="3091532"/>
            <a:ext cx="3568750" cy="449833"/>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000000"/>
                </a:solidFill>
                <a:latin typeface="Source Sans 3" pitchFamily="34" charset="0"/>
                <a:ea typeface="Source Sans 3" pitchFamily="34" charset="-122"/>
                <a:cs typeface="Source Sans 3" pitchFamily="34" charset="-120"/>
              </a:rPr>
              <a:t>Live market caps computed via delayed SEC shares outstanding data introduce mathematical inconsistencies. A stale share count multiplied against a live price produces a fundamentally broken valuation matrix.</a:t>
            </a:r>
            <a:endParaRPr lang="en-US" sz="8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2673" y="3743027"/>
            <a:ext cx="3862983" cy="923404"/>
          </a:xfrm>
          <a:prstGeom prst="rect">
            <a:avLst/>
          </a:prstGeom>
        </p:spPr>
      </p:pic>
      <p:sp>
        <p:nvSpPr>
          <p:cNvPr id="15" name="Text 10"/>
          <p:cNvSpPr/>
          <p:nvPr/>
        </p:nvSpPr>
        <p:spPr>
          <a:xfrm>
            <a:off x="728365" y="3861569"/>
            <a:ext cx="3568750" cy="153367"/>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Source Serif 4 SemiBold" pitchFamily="34" charset="0"/>
                <a:ea typeface="Source Serif 4 SemiBold" pitchFamily="34" charset="-122"/>
                <a:cs typeface="Source Serif 4 SemiBold" pitchFamily="34" charset="-120"/>
              </a:rPr>
              <a:t>UX Timeouts (HTTP 504)</a:t>
            </a:r>
            <a:endParaRPr lang="en-US" sz="950" dirty="0"/>
          </a:p>
        </p:txBody>
      </p:sp>
      <p:sp>
        <p:nvSpPr>
          <p:cNvPr id="16" name="Text 11"/>
          <p:cNvSpPr/>
          <p:nvPr/>
        </p:nvSpPr>
        <p:spPr>
          <a:xfrm>
            <a:off x="728365" y="4098057"/>
            <a:ext cx="3568750" cy="449833"/>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000000"/>
                </a:solidFill>
                <a:latin typeface="Source Sans 3" pitchFamily="34" charset="0"/>
                <a:ea typeface="Source Sans 3" pitchFamily="34" charset="-122"/>
                <a:cs typeface="Source Sans 3" pitchFamily="34" charset="-120"/>
              </a:rPr>
              <a:t>Deep RAG vectorization on 10-K documents is computationally intensive. Synchronous frontend architectures block the main event loop, triggering gateway timeouts and destroying user trust.</a:t>
            </a:r>
            <a:endParaRPr lang="en-US" sz="800" dirty="0"/>
          </a:p>
        </p:txBody>
      </p:sp>
      <p:sp>
        <p:nvSpPr>
          <p:cNvPr id="17" name="Text 12"/>
          <p:cNvSpPr/>
          <p:nvPr/>
        </p:nvSpPr>
        <p:spPr>
          <a:xfrm>
            <a:off x="4704011" y="1483147"/>
            <a:ext cx="3921175" cy="153367"/>
          </a:xfrm>
          <a:prstGeom prst="rect">
            <a:avLst/>
          </a:prstGeom>
          <a:noFill/>
          <a:ln/>
        </p:spPr>
        <p:txBody>
          <a:bodyPr wrap="none" lIns="0" tIns="0" rIns="0" bIns="0" rtlCol="0" anchor="t"/>
          <a:lstStyle/>
          <a:p>
            <a:pPr algn="l" indent="0" marL="0">
              <a:lnSpc>
                <a:spcPct val="104000"/>
              </a:lnSpc>
              <a:buNone/>
            </a:pPr>
            <a:r>
              <a:rPr lang="en-US" sz="950" dirty="0">
                <a:solidFill>
                  <a:srgbClr val="BE49DF"/>
                </a:solidFill>
                <a:latin typeface="Source Serif 4 SemiBold" pitchFamily="34" charset="0"/>
                <a:ea typeface="Source Serif 4 SemiBold" pitchFamily="34" charset="-122"/>
                <a:cs typeface="Source Serif 4 SemiBold" pitchFamily="34" charset="-120"/>
              </a:rPr>
              <a:t>✓ Socrates AI Solutions</a:t>
            </a:r>
            <a:endParaRPr lang="en-US" sz="95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04011" y="1729978"/>
            <a:ext cx="3921175" cy="923404"/>
          </a:xfrm>
          <a:prstGeom prst="rect">
            <a:avLst/>
          </a:prstGeom>
        </p:spPr>
      </p:pic>
      <p:sp>
        <p:nvSpPr>
          <p:cNvPr id="19" name="Text 13"/>
          <p:cNvSpPr/>
          <p:nvPr/>
        </p:nvSpPr>
        <p:spPr>
          <a:xfrm>
            <a:off x="4879702" y="1848520"/>
            <a:ext cx="3626941" cy="153367"/>
          </a:xfrm>
          <a:prstGeom prst="rect">
            <a:avLst/>
          </a:prstGeom>
          <a:noFill/>
          <a:ln/>
        </p:spPr>
        <p:txBody>
          <a:bodyPr wrap="none" lIns="0" tIns="0" rIns="0" bIns="0" rtlCol="0" anchor="t"/>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Fail-Fast Cascades</a:t>
            </a:r>
            <a:endParaRPr lang="en-US" sz="950" dirty="0"/>
          </a:p>
        </p:txBody>
      </p:sp>
      <p:sp>
        <p:nvSpPr>
          <p:cNvPr id="20" name="Text 14"/>
          <p:cNvSpPr/>
          <p:nvPr/>
        </p:nvSpPr>
        <p:spPr>
          <a:xfrm>
            <a:off x="4879702" y="2085008"/>
            <a:ext cx="3626941" cy="449833"/>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A 5-layer valuation cascade with strict abort gates instantly halts the pipeline upon detecting $0.00 prices or empty matrices — preserving API quota and preventing garbage output.</a:t>
            </a:r>
            <a:endParaRPr lang="en-US" sz="80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04011" y="2736503"/>
            <a:ext cx="3921175" cy="923404"/>
          </a:xfrm>
          <a:prstGeom prst="rect">
            <a:avLst/>
          </a:prstGeom>
        </p:spPr>
      </p:pic>
      <p:sp>
        <p:nvSpPr>
          <p:cNvPr id="22" name="Text 15"/>
          <p:cNvSpPr/>
          <p:nvPr/>
        </p:nvSpPr>
        <p:spPr>
          <a:xfrm>
            <a:off x="4879702" y="2855044"/>
            <a:ext cx="3626941" cy="153367"/>
          </a:xfrm>
          <a:prstGeom prst="rect">
            <a:avLst/>
          </a:prstGeom>
          <a:noFill/>
          <a:ln/>
        </p:spPr>
        <p:txBody>
          <a:bodyPr wrap="none" lIns="0" tIns="0" rIns="0" bIns="0" rtlCol="0" anchor="t"/>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Async FastAPI Orchestration</a:t>
            </a:r>
            <a:endParaRPr lang="en-US" sz="950" dirty="0"/>
          </a:p>
        </p:txBody>
      </p:sp>
      <p:sp>
        <p:nvSpPr>
          <p:cNvPr id="23" name="Text 16"/>
          <p:cNvSpPr/>
          <p:nvPr/>
        </p:nvSpPr>
        <p:spPr>
          <a:xfrm>
            <a:off x="4879702" y="3091532"/>
            <a:ext cx="3626941" cy="449833"/>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All heavy computation — vectorization, embedding generation, LLM inference — executes in FastAPI BackgroundTasks, decoupled from the main async event loop. Zero blocking, zero 504s.</a:t>
            </a:r>
            <a:endParaRPr lang="en-US" sz="80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04011" y="3743027"/>
            <a:ext cx="3921175" cy="773460"/>
          </a:xfrm>
          <a:prstGeom prst="rect">
            <a:avLst/>
          </a:prstGeom>
        </p:spPr>
      </p:pic>
      <p:sp>
        <p:nvSpPr>
          <p:cNvPr id="25" name="Text 17"/>
          <p:cNvSpPr/>
          <p:nvPr/>
        </p:nvSpPr>
        <p:spPr>
          <a:xfrm>
            <a:off x="4879702" y="3861569"/>
            <a:ext cx="3626941" cy="153367"/>
          </a:xfrm>
          <a:prstGeom prst="rect">
            <a:avLst/>
          </a:prstGeom>
          <a:noFill/>
          <a:ln/>
        </p:spPr>
        <p:txBody>
          <a:bodyPr wrap="none" lIns="0" tIns="0" rIns="0" bIns="0" rtlCol="0" anchor="t"/>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Immortal Next.js Terminal Polling</a:t>
            </a:r>
            <a:endParaRPr lang="en-US" sz="950" dirty="0"/>
          </a:p>
        </p:txBody>
      </p:sp>
      <p:sp>
        <p:nvSpPr>
          <p:cNvPr id="26" name="Text 18"/>
          <p:cNvSpPr/>
          <p:nvPr/>
        </p:nvSpPr>
        <p:spPr>
          <a:xfrm>
            <a:off x="4879702" y="4098057"/>
            <a:ext cx="3626941" cy="299889"/>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A persistent WebSocket-backed terminal UI streams live backend execution logs with race-condition immunity, replacing opaque spinners with real-time telemetry.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23577" y="359941"/>
            <a:ext cx="502593" cy="99343"/>
          </a:xfrm>
          <a:prstGeom prst="roundRect">
            <a:avLst>
              <a:gd name="adj" fmla="val 22139"/>
            </a:avLst>
          </a:prstGeom>
          <a:solidFill>
            <a:srgbClr val="F0D4F7"/>
          </a:solidFill>
          <a:ln/>
        </p:spPr>
      </p:sp>
      <p:sp>
        <p:nvSpPr>
          <p:cNvPr id="3" name="Text 1"/>
          <p:cNvSpPr/>
          <p:nvPr/>
        </p:nvSpPr>
        <p:spPr>
          <a:xfrm>
            <a:off x="562794" y="379512"/>
            <a:ext cx="881360" cy="60201"/>
          </a:xfrm>
          <a:prstGeom prst="rect">
            <a:avLst/>
          </a:prstGeom>
          <a:noFill/>
          <a:ln/>
        </p:spPr>
        <p:txBody>
          <a:bodyPr wrap="none" lIns="0" tIns="0" rIns="0" bIns="0" rtlCol="0" anchor="t"/>
          <a:lstStyle/>
          <a:p>
            <a:pPr algn="l" indent="0" marL="0">
              <a:lnSpc>
                <a:spcPct val="96000"/>
              </a:lnSpc>
              <a:buNone/>
            </a:pPr>
            <a:r>
              <a:rPr lang="en-US" sz="400" dirty="0">
                <a:solidFill>
                  <a:srgbClr val="272525"/>
                </a:solidFill>
                <a:latin typeface="Source Sans 3" pitchFamily="34" charset="0"/>
                <a:ea typeface="Source Sans 3" pitchFamily="34" charset="-122"/>
                <a:cs typeface="Source Sans 3" pitchFamily="34" charset="-120"/>
              </a:rPr>
              <a:t>SYSTEM TOPOLOGY</a:t>
            </a:r>
            <a:endParaRPr lang="en-US" sz="400" dirty="0"/>
          </a:p>
        </p:txBody>
      </p:sp>
      <p:sp>
        <p:nvSpPr>
          <p:cNvPr id="4" name="Text 2"/>
          <p:cNvSpPr/>
          <p:nvPr/>
        </p:nvSpPr>
        <p:spPr>
          <a:xfrm>
            <a:off x="523577" y="472306"/>
            <a:ext cx="8096845" cy="19250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Source Serif 4 SemiBold" pitchFamily="34" charset="0"/>
                <a:ea typeface="Source Serif 4 SemiBold" pitchFamily="34" charset="-122"/>
                <a:cs typeface="Source Serif 4 SemiBold" pitchFamily="34" charset="-120"/>
              </a:rPr>
              <a:t>Full-Stack Enterprise Topology</a:t>
            </a:r>
            <a:endParaRPr lang="en-US" sz="1200" dirty="0"/>
          </a:p>
        </p:txBody>
      </p:sp>
      <p:sp>
        <p:nvSpPr>
          <p:cNvPr id="5" name="Text 3"/>
          <p:cNvSpPr/>
          <p:nvPr/>
        </p:nvSpPr>
        <p:spPr>
          <a:xfrm>
            <a:off x="523577" y="713854"/>
            <a:ext cx="8096845" cy="157163"/>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Socrates AI's architecture spans five distinct operational layers, each engineered for independent scalability and fault isolation. The system ingests from multiple external financial APIs, vectorizes unstructured SEC filings, performs multi-query RAG inference against a 70B-parameter LLM, and renders results through a Bloomberg Terminal-inspired Next.js frontend — all orchestrated through asynchronous, non-blocking patterns.</a:t>
            </a:r>
            <a:endParaRPr lang="en-US" sz="500" dirty="0"/>
          </a:p>
        </p:txBody>
      </p:sp>
      <p:pic>
        <p:nvPicPr>
          <p:cNvPr id="6" name="Image 0" descr="preencoded.png">    </p:cNvPr>
          <p:cNvPicPr>
            <a:picLocks noChangeAspect="1"/>
          </p:cNvPicPr>
          <p:nvPr/>
        </p:nvPicPr>
        <p:blipFill>
          <a:blip r:embed="rId1"/>
          <a:stretch>
            <a:fillRect/>
          </a:stretch>
        </p:blipFill>
        <p:spPr>
          <a:xfrm>
            <a:off x="523577" y="907777"/>
            <a:ext cx="7315200" cy="4114800"/>
          </a:xfrm>
          <a:prstGeom prst="rect">
            <a:avLst/>
          </a:prstGeom>
        </p:spPr>
      </p:pic>
      <p:sp>
        <p:nvSpPr>
          <p:cNvPr id="7" name="Text 4"/>
          <p:cNvSpPr/>
          <p:nvPr/>
        </p:nvSpPr>
        <p:spPr>
          <a:xfrm>
            <a:off x="523577" y="5092005"/>
            <a:ext cx="3968576" cy="96217"/>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Source Serif 4 SemiBold" pitchFamily="34" charset="0"/>
                <a:ea typeface="Source Serif 4 SemiBold" pitchFamily="34" charset="-122"/>
                <a:cs typeface="Source Serif 4 SemiBold" pitchFamily="34" charset="-120"/>
              </a:rPr>
              <a:t>Data Sourcing Layer</a:t>
            </a:r>
            <a:endParaRPr lang="en-US" sz="600" dirty="0"/>
          </a:p>
        </p:txBody>
      </p:sp>
      <p:sp>
        <p:nvSpPr>
          <p:cNvPr id="8" name="Text 5"/>
          <p:cNvSpPr/>
          <p:nvPr/>
        </p:nvSpPr>
        <p:spPr>
          <a:xfrm>
            <a:off x="523577" y="5220891"/>
            <a:ext cx="3968576" cy="157163"/>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Multithreaded ingestion from FRED, Alpaca, and SEC EDGAR ensures continuous data freshness. Each source operates within its own async task group, preventing cascade failures from propagating upstream.</a:t>
            </a:r>
            <a:endParaRPr lang="en-US" sz="500" dirty="0"/>
          </a:p>
        </p:txBody>
      </p:sp>
      <p:sp>
        <p:nvSpPr>
          <p:cNvPr id="9" name="Text 6"/>
          <p:cNvSpPr/>
          <p:nvPr/>
        </p:nvSpPr>
        <p:spPr>
          <a:xfrm>
            <a:off x="4656609" y="5092005"/>
            <a:ext cx="3968576" cy="96217"/>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Source Serif 4 SemiBold" pitchFamily="34" charset="0"/>
                <a:ea typeface="Source Serif 4 SemiBold" pitchFamily="34" charset="-122"/>
                <a:cs typeface="Source Serif 4 SemiBold" pitchFamily="34" charset="-120"/>
              </a:rPr>
              <a:t>Resilience Architecture</a:t>
            </a:r>
            <a:endParaRPr lang="en-US" sz="600" dirty="0"/>
          </a:p>
        </p:txBody>
      </p:sp>
      <p:sp>
        <p:nvSpPr>
          <p:cNvPr id="10" name="Text 7"/>
          <p:cNvSpPr/>
          <p:nvPr/>
        </p:nvSpPr>
        <p:spPr>
          <a:xfrm>
            <a:off x="4656609" y="5220891"/>
            <a:ext cx="3968576" cy="157163"/>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Exponential backoff retry logic with jitter is applied at every API boundary. Strict PostgreSQL constraint barriers (UNIQUE, CHECK, FOREIGN KEY) act as the final data integrity gate before any result reaches the inference layer.</a:t>
            </a:r>
            <a:endParaRPr lang="en-US" sz="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23577" y="406152"/>
            <a:ext cx="1057275" cy="139898"/>
          </a:xfrm>
          <a:prstGeom prst="roundRect">
            <a:avLst>
              <a:gd name="adj" fmla="val 22107"/>
            </a:avLst>
          </a:prstGeom>
          <a:solidFill>
            <a:srgbClr val="F0D4F7"/>
          </a:solidFill>
          <a:ln/>
        </p:spPr>
      </p:sp>
      <p:sp>
        <p:nvSpPr>
          <p:cNvPr id="3" name="Text 1"/>
          <p:cNvSpPr/>
          <p:nvPr/>
        </p:nvSpPr>
        <p:spPr>
          <a:xfrm>
            <a:off x="578793" y="433760"/>
            <a:ext cx="1404045" cy="84683"/>
          </a:xfrm>
          <a:prstGeom prst="rect">
            <a:avLst/>
          </a:prstGeom>
          <a:noFill/>
          <a:ln/>
        </p:spPr>
        <p:txBody>
          <a:bodyPr wrap="none" lIns="0" tIns="0" rIns="0" bIns="0" rtlCol="0" anchor="t"/>
          <a:lstStyle/>
          <a:p>
            <a:pPr algn="l" indent="0" marL="0">
              <a:lnSpc>
                <a:spcPct val="96000"/>
              </a:lnSpc>
              <a:buNone/>
            </a:pPr>
            <a:r>
              <a:rPr lang="en-US" sz="550" dirty="0">
                <a:solidFill>
                  <a:srgbClr val="272525"/>
                </a:solidFill>
                <a:latin typeface="Source Sans 3" pitchFamily="34" charset="0"/>
                <a:ea typeface="Source Sans 3" pitchFamily="34" charset="-122"/>
                <a:cs typeface="Source Sans 3" pitchFamily="34" charset="-120"/>
              </a:rPr>
              <a:t>BACKEND · VALUATION ENGINE</a:t>
            </a:r>
            <a:endParaRPr lang="en-US" sz="550" dirty="0"/>
          </a:p>
        </p:txBody>
      </p:sp>
      <p:sp>
        <p:nvSpPr>
          <p:cNvPr id="4" name="Text 2"/>
          <p:cNvSpPr/>
          <p:nvPr/>
        </p:nvSpPr>
        <p:spPr>
          <a:xfrm>
            <a:off x="523577" y="571872"/>
            <a:ext cx="8096845" cy="270644"/>
          </a:xfrm>
          <a:prstGeom prst="rect">
            <a:avLst/>
          </a:prstGeom>
          <a:noFill/>
          <a:ln/>
        </p:spPr>
        <p:txBody>
          <a:bodyPr wrap="none" lIns="0" tIns="0" rIns="0" bIns="0" rtlCol="0" anchor="t"/>
          <a:lstStyle/>
          <a:p>
            <a:pPr algn="l" indent="0" marL="0">
              <a:lnSpc>
                <a:spcPct val="104000"/>
              </a:lnSpc>
              <a:buNone/>
            </a:pPr>
            <a:r>
              <a:rPr lang="en-US" sz="1700" dirty="0">
                <a:solidFill>
                  <a:srgbClr val="000000"/>
                </a:solidFill>
                <a:latin typeface="Source Serif 4 SemiBold" pitchFamily="34" charset="0"/>
                <a:ea typeface="Source Serif 4 SemiBold" pitchFamily="34" charset="-122"/>
                <a:cs typeface="Source Serif 4 SemiBold" pitchFamily="34" charset="-120"/>
              </a:rPr>
              <a:t>Defeating WAFs &amp; API IP Bans: The 5-Layer Fail-Fast Cascade</a:t>
            </a:r>
            <a:endParaRPr lang="en-US" sz="1700" dirty="0"/>
          </a:p>
        </p:txBody>
      </p:sp>
      <p:sp>
        <p:nvSpPr>
          <p:cNvPr id="5" name="Text 3"/>
          <p:cNvSpPr/>
          <p:nvPr/>
        </p:nvSpPr>
        <p:spPr>
          <a:xfrm>
            <a:off x="523577" y="939552"/>
            <a:ext cx="8096845" cy="250775"/>
          </a:xfrm>
          <a:prstGeom prst="rect">
            <a:avLst/>
          </a:prstGeom>
          <a:noFill/>
          <a:ln/>
        </p:spPr>
        <p:txBody>
          <a:bodyPr wrap="square" lIns="0" tIns="0" rIns="0" bIns="0" rtlCol="0" anchor="t">
            <a:normAutofit/>
          </a:bodyPr>
          <a:lstStyle/>
          <a:p>
            <a:pPr algn="l" indent="0" marL="0">
              <a:lnSpc>
                <a:spcPct val="114000"/>
              </a:lnSpc>
              <a:buNone/>
            </a:pPr>
            <a:r>
              <a:rPr lang="en-US" sz="700" dirty="0">
                <a:solidFill>
                  <a:srgbClr val="272525"/>
                </a:solidFill>
                <a:latin typeface="Source Sans 3" pitchFamily="34" charset="0"/>
                <a:ea typeface="Source Sans 3" pitchFamily="34" charset="-122"/>
                <a:cs typeface="Source Sans 3" pitchFamily="34" charset="-120"/>
              </a:rPr>
              <a:t>Financial APIs aggressively throttle and ban IPs under concurrent load. Socrates AI implements a descending 5-tier waterfall cascade — each layer serves as both a primary data source and a fallback for the layer above. Critically, a strict </a:t>
            </a:r>
            <a:pPr algn="l" indent="0" marL="0">
              <a:lnSpc>
                <a:spcPct val="114000"/>
              </a:lnSpc>
              <a:buNone/>
            </a:pPr>
            <a:r>
              <a:rPr lang="en-US" sz="700" b="1" dirty="0">
                <a:solidFill>
                  <a:srgbClr val="272525"/>
                </a:solidFill>
                <a:latin typeface="Source Sans 3 Bold" pitchFamily="34" charset="0"/>
                <a:ea typeface="Source Sans 3 Bold" pitchFamily="34" charset="-122"/>
                <a:cs typeface="Source Sans 3 Bold" pitchFamily="34" charset="-120"/>
              </a:rPr>
              <a:t>Fail-Fast abort gate</a:t>
            </a:r>
            <a:pPr algn="l" indent="0" marL="0">
              <a:lnSpc>
                <a:spcPct val="114000"/>
              </a:lnSpc>
              <a:buNone/>
            </a:pPr>
            <a:r>
              <a:rPr lang="en-US" sz="700" dirty="0">
                <a:solidFill>
                  <a:srgbClr val="272525"/>
                </a:solidFill>
                <a:latin typeface="Source Sans 3" pitchFamily="34" charset="0"/>
                <a:ea typeface="Source Sans 3" pitchFamily="34" charset="-122"/>
                <a:cs typeface="Source Sans 3" pitchFamily="34" charset="-120"/>
              </a:rPr>
              <a:t> instantly terminates the entire pipeline if any layer returns a $0.00 price or empty matrix, preventing API quota burn on corrupted data.</a:t>
            </a:r>
            <a:endParaRPr lang="en-US" sz="700" dirty="0"/>
          </a:p>
        </p:txBody>
      </p:sp>
      <p:sp>
        <p:nvSpPr>
          <p:cNvPr id="6" name="Shape 4"/>
          <p:cNvSpPr/>
          <p:nvPr/>
        </p:nvSpPr>
        <p:spPr>
          <a:xfrm>
            <a:off x="523577" y="1263104"/>
            <a:ext cx="809625" cy="488156"/>
          </a:xfrm>
          <a:prstGeom prst="roundRect">
            <a:avLst>
              <a:gd name="adj" fmla="val 7920"/>
            </a:avLst>
          </a:prstGeom>
          <a:solidFill>
            <a:srgbClr val="F0D4F7"/>
          </a:solidFill>
          <a:ln w="4763">
            <a:solidFill>
              <a:srgbClr val="D6BADD"/>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3650" y="1442442"/>
            <a:ext cx="129406" cy="129406"/>
          </a:xfrm>
          <a:prstGeom prst="rect">
            <a:avLst/>
          </a:prstGeom>
        </p:spPr>
      </p:pic>
      <p:sp>
        <p:nvSpPr>
          <p:cNvPr id="8" name="Text 5"/>
          <p:cNvSpPr/>
          <p:nvPr/>
        </p:nvSpPr>
        <p:spPr>
          <a:xfrm>
            <a:off x="1425178" y="1355080"/>
            <a:ext cx="7103269" cy="140047"/>
          </a:xfrm>
          <a:prstGeom prst="rect">
            <a:avLst/>
          </a:prstGeom>
          <a:noFill/>
          <a:ln/>
        </p:spPr>
        <p:txBody>
          <a:bodyPr wrap="none" lIns="0" tIns="0" rIns="0" bIns="0" rtlCol="0" anchor="t"/>
          <a:lstStyle/>
          <a:p>
            <a:pPr algn="l" indent="0" marL="0">
              <a:lnSpc>
                <a:spcPct val="104000"/>
              </a:lnSpc>
              <a:buNone/>
            </a:pPr>
            <a:r>
              <a:rPr lang="en-US" sz="8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850" dirty="0">
                <a:solidFill>
                  <a:srgbClr val="FF0000"/>
                </a:solidFill>
                <a:latin typeface="Source Serif 4 SemiBold" pitchFamily="34" charset="0"/>
                <a:ea typeface="Source Serif 4 SemiBold" pitchFamily="34" charset="-122"/>
                <a:cs typeface="Source Serif 4 SemiBold" pitchFamily="34" charset="-120"/>
              </a:rPr>
              <a:t> Fail-Fast Abort Gate</a:t>
            </a:r>
            <a:endParaRPr lang="en-US" sz="850" dirty="0"/>
          </a:p>
        </p:txBody>
      </p:sp>
      <p:sp>
        <p:nvSpPr>
          <p:cNvPr id="9" name="Text 6"/>
          <p:cNvSpPr/>
          <p:nvPr/>
        </p:nvSpPr>
        <p:spPr>
          <a:xfrm>
            <a:off x="1425178" y="1533897"/>
            <a:ext cx="7103269" cy="125388"/>
          </a:xfrm>
          <a:prstGeom prst="rect">
            <a:avLst/>
          </a:prstGeom>
          <a:noFill/>
          <a:ln/>
        </p:spPr>
        <p:txBody>
          <a:bodyPr wrap="none" lIns="0" tIns="0" rIns="0" bIns="0" rtlCol="0" anchor="t"/>
          <a:lstStyle/>
          <a:p>
            <a:pPr algn="l" indent="0" marL="0">
              <a:lnSpc>
                <a:spcPct val="114000"/>
              </a:lnSpc>
              <a:buNone/>
            </a:pPr>
            <a:r>
              <a:rPr lang="en-US" sz="700" dirty="0">
                <a:solidFill>
                  <a:srgbClr val="272525"/>
                </a:solidFill>
                <a:latin typeface="Source Sans 3" pitchFamily="34" charset="0"/>
                <a:ea typeface="Source Sans 3" pitchFamily="34" charset="-122"/>
                <a:cs typeface="Source Sans 3" pitchFamily="34" charset="-120"/>
              </a:rPr>
              <a:t>Instantly aborts and halts the entire pipeline if an API explicitly returns $0.00 price or empty matrix. Zero API limit burn on garbage data.</a:t>
            </a:r>
            <a:endParaRPr lang="en-US" sz="700" dirty="0"/>
          </a:p>
        </p:txBody>
      </p:sp>
      <p:sp>
        <p:nvSpPr>
          <p:cNvPr id="10" name="Shape 7"/>
          <p:cNvSpPr/>
          <p:nvPr/>
        </p:nvSpPr>
        <p:spPr>
          <a:xfrm>
            <a:off x="1379190" y="1748879"/>
            <a:ext cx="7195245" cy="4763"/>
          </a:xfrm>
          <a:prstGeom prst="roundRect">
            <a:avLst>
              <a:gd name="adj" fmla="val 811669"/>
            </a:avLst>
          </a:prstGeom>
          <a:solidFill>
            <a:srgbClr val="D6BADD"/>
          </a:solidFill>
          <a:ln/>
        </p:spPr>
      </p:sp>
      <p:sp>
        <p:nvSpPr>
          <p:cNvPr id="11" name="Shape 8"/>
          <p:cNvSpPr/>
          <p:nvPr/>
        </p:nvSpPr>
        <p:spPr>
          <a:xfrm>
            <a:off x="523577" y="1797248"/>
            <a:ext cx="1619324" cy="483394"/>
          </a:xfrm>
          <a:prstGeom prst="roundRect">
            <a:avLst>
              <a:gd name="adj" fmla="val 7998"/>
            </a:avLst>
          </a:prstGeom>
          <a:solidFill>
            <a:srgbClr val="F0D4F7"/>
          </a:solidFill>
          <a:ln w="4763">
            <a:solidFill>
              <a:srgbClr val="D6BADD"/>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8537" y="1974205"/>
            <a:ext cx="129406" cy="129406"/>
          </a:xfrm>
          <a:prstGeom prst="rect">
            <a:avLst/>
          </a:prstGeom>
        </p:spPr>
      </p:pic>
      <p:sp>
        <p:nvSpPr>
          <p:cNvPr id="13" name="Text 9"/>
          <p:cNvSpPr/>
          <p:nvPr/>
        </p:nvSpPr>
        <p:spPr>
          <a:xfrm>
            <a:off x="2234878" y="1889224"/>
            <a:ext cx="6293569" cy="135285"/>
          </a:xfrm>
          <a:prstGeom prst="rect">
            <a:avLst/>
          </a:prstGeom>
          <a:noFill/>
          <a:ln/>
        </p:spPr>
        <p:txBody>
          <a:bodyPr wrap="none" lIns="0" tIns="0" rIns="0" bIns="0" rtlCol="0" anchor="t"/>
          <a:lstStyle/>
          <a:p>
            <a:pPr algn="l" indent="0" marL="0">
              <a:lnSpc>
                <a:spcPct val="104000"/>
              </a:lnSpc>
              <a:buNone/>
            </a:pPr>
            <a:r>
              <a:rPr lang="en-US" sz="850" dirty="0">
                <a:solidFill>
                  <a:srgbClr val="272525"/>
                </a:solidFill>
                <a:latin typeface="Source Serif 4 SemiBold" pitchFamily="34" charset="0"/>
                <a:ea typeface="Source Serif 4 SemiBold" pitchFamily="34" charset="-122"/>
                <a:cs typeface="Source Serif 4 SemiBold" pitchFamily="34" charset="-120"/>
              </a:rPr>
              <a:t>Layer D — Mathematical Derivation</a:t>
            </a:r>
            <a:endParaRPr lang="en-US" sz="850" dirty="0"/>
          </a:p>
        </p:txBody>
      </p:sp>
      <p:sp>
        <p:nvSpPr>
          <p:cNvPr id="14" name="Text 10"/>
          <p:cNvSpPr/>
          <p:nvPr/>
        </p:nvSpPr>
        <p:spPr>
          <a:xfrm>
            <a:off x="2234878" y="2063279"/>
            <a:ext cx="6293569" cy="125388"/>
          </a:xfrm>
          <a:prstGeom prst="rect">
            <a:avLst/>
          </a:prstGeom>
          <a:noFill/>
          <a:ln/>
        </p:spPr>
        <p:txBody>
          <a:bodyPr wrap="none" lIns="0" tIns="0" rIns="0" bIns="0" rtlCol="0" anchor="t"/>
          <a:lstStyle/>
          <a:p>
            <a:pPr algn="l" indent="0" marL="0">
              <a:lnSpc>
                <a:spcPct val="114000"/>
              </a:lnSpc>
              <a:buNone/>
            </a:pPr>
            <a:r>
              <a:rPr lang="en-US" sz="700" dirty="0">
                <a:solidFill>
                  <a:srgbClr val="272525"/>
                </a:solidFill>
                <a:latin typeface="Source Sans 3" pitchFamily="34" charset="0"/>
                <a:ea typeface="Source Sans 3" pitchFamily="34" charset="-122"/>
                <a:cs typeface="Source Sans 3" pitchFamily="34" charset="-120"/>
              </a:rPr>
              <a:t>Computes implied market cap via 30-day float averages / 5-day close price. Used only when all external APIs fail simultaneously.</a:t>
            </a:r>
            <a:endParaRPr lang="en-US" sz="700" dirty="0"/>
          </a:p>
        </p:txBody>
      </p:sp>
      <p:sp>
        <p:nvSpPr>
          <p:cNvPr id="15" name="Shape 11"/>
          <p:cNvSpPr/>
          <p:nvPr/>
        </p:nvSpPr>
        <p:spPr>
          <a:xfrm>
            <a:off x="2188890" y="2278261"/>
            <a:ext cx="6385545" cy="4763"/>
          </a:xfrm>
          <a:prstGeom prst="roundRect">
            <a:avLst>
              <a:gd name="adj" fmla="val 811669"/>
            </a:avLst>
          </a:prstGeom>
          <a:solidFill>
            <a:srgbClr val="D6BADD"/>
          </a:solidFill>
          <a:ln/>
        </p:spPr>
      </p:sp>
      <p:sp>
        <p:nvSpPr>
          <p:cNvPr id="16" name="Shape 12"/>
          <p:cNvSpPr/>
          <p:nvPr/>
        </p:nvSpPr>
        <p:spPr>
          <a:xfrm>
            <a:off x="523577" y="2326630"/>
            <a:ext cx="2429024" cy="608781"/>
          </a:xfrm>
          <a:prstGeom prst="roundRect">
            <a:avLst>
              <a:gd name="adj" fmla="val 6350"/>
            </a:avLst>
          </a:prstGeom>
          <a:solidFill>
            <a:srgbClr val="F0D4F7"/>
          </a:solidFill>
          <a:ln w="4763">
            <a:solidFill>
              <a:srgbClr val="D6BADD"/>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73349" y="2566243"/>
            <a:ext cx="129406" cy="129406"/>
          </a:xfrm>
          <a:prstGeom prst="rect">
            <a:avLst/>
          </a:prstGeom>
        </p:spPr>
      </p:pic>
      <p:sp>
        <p:nvSpPr>
          <p:cNvPr id="18" name="Text 13"/>
          <p:cNvSpPr/>
          <p:nvPr/>
        </p:nvSpPr>
        <p:spPr>
          <a:xfrm>
            <a:off x="3044577" y="2418606"/>
            <a:ext cx="5483870" cy="135285"/>
          </a:xfrm>
          <a:prstGeom prst="rect">
            <a:avLst/>
          </a:prstGeom>
          <a:noFill/>
          <a:ln/>
        </p:spPr>
        <p:txBody>
          <a:bodyPr wrap="none" lIns="0" tIns="0" rIns="0" bIns="0" rtlCol="0" anchor="t"/>
          <a:lstStyle/>
          <a:p>
            <a:pPr algn="l" indent="0" marL="0">
              <a:lnSpc>
                <a:spcPct val="104000"/>
              </a:lnSpc>
              <a:buNone/>
            </a:pPr>
            <a:r>
              <a:rPr lang="en-US" sz="850" dirty="0">
                <a:solidFill>
                  <a:srgbClr val="272525"/>
                </a:solidFill>
                <a:latin typeface="Source Serif 4 SemiBold" pitchFamily="34" charset="0"/>
                <a:ea typeface="Source Serif 4 SemiBold" pitchFamily="34" charset="-122"/>
                <a:cs typeface="Source Serif 4 SemiBold" pitchFamily="34" charset="-120"/>
              </a:rPr>
              <a:t>Layer C — Polygon.io Emergency Cascade</a:t>
            </a:r>
            <a:endParaRPr lang="en-US" sz="850" dirty="0"/>
          </a:p>
        </p:txBody>
      </p:sp>
      <p:sp>
        <p:nvSpPr>
          <p:cNvPr id="19" name="Text 14"/>
          <p:cNvSpPr/>
          <p:nvPr/>
        </p:nvSpPr>
        <p:spPr>
          <a:xfrm>
            <a:off x="3044577" y="2592660"/>
            <a:ext cx="5483870" cy="250775"/>
          </a:xfrm>
          <a:prstGeom prst="rect">
            <a:avLst/>
          </a:prstGeom>
          <a:noFill/>
          <a:ln/>
        </p:spPr>
        <p:txBody>
          <a:bodyPr wrap="square" lIns="0" tIns="0" rIns="0" bIns="0" rtlCol="0" anchor="t">
            <a:normAutofit/>
          </a:bodyPr>
          <a:lstStyle/>
          <a:p>
            <a:pPr algn="l" indent="0" marL="0">
              <a:lnSpc>
                <a:spcPct val="114000"/>
              </a:lnSpc>
              <a:buNone/>
            </a:pPr>
            <a:r>
              <a:rPr lang="en-US" sz="700" dirty="0">
                <a:solidFill>
                  <a:srgbClr val="272525"/>
                </a:solidFill>
                <a:latin typeface="Source Sans 3" pitchFamily="34" charset="0"/>
                <a:ea typeface="Source Sans 3" pitchFamily="34" charset="-122"/>
                <a:cs typeface="Source Sans 3" pitchFamily="34" charset="-120"/>
              </a:rPr>
              <a:t>Activated when primary authenticated gateways return errors. Polygon.io serves as the emergency liquidity data fallback with separate API credentials.</a:t>
            </a:r>
            <a:endParaRPr lang="en-US" sz="700" dirty="0"/>
          </a:p>
        </p:txBody>
      </p:sp>
      <p:sp>
        <p:nvSpPr>
          <p:cNvPr id="20" name="Shape 15"/>
          <p:cNvSpPr/>
          <p:nvPr/>
        </p:nvSpPr>
        <p:spPr>
          <a:xfrm>
            <a:off x="2998589" y="2933030"/>
            <a:ext cx="5575846" cy="4763"/>
          </a:xfrm>
          <a:prstGeom prst="roundRect">
            <a:avLst>
              <a:gd name="adj" fmla="val 811669"/>
            </a:avLst>
          </a:prstGeom>
          <a:solidFill>
            <a:srgbClr val="D6BADD"/>
          </a:solidFill>
          <a:ln/>
        </p:spPr>
      </p:sp>
      <p:sp>
        <p:nvSpPr>
          <p:cNvPr id="21" name="Shape 16"/>
          <p:cNvSpPr/>
          <p:nvPr/>
        </p:nvSpPr>
        <p:spPr>
          <a:xfrm>
            <a:off x="523577" y="2981399"/>
            <a:ext cx="3238723" cy="608781"/>
          </a:xfrm>
          <a:prstGeom prst="roundRect">
            <a:avLst>
              <a:gd name="adj" fmla="val 6350"/>
            </a:avLst>
          </a:prstGeom>
          <a:solidFill>
            <a:srgbClr val="F0D4F7"/>
          </a:solidFill>
          <a:ln w="4763">
            <a:solidFill>
              <a:srgbClr val="D6BADD"/>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78236" y="3221013"/>
            <a:ext cx="129406" cy="129406"/>
          </a:xfrm>
          <a:prstGeom prst="rect">
            <a:avLst/>
          </a:prstGeom>
        </p:spPr>
      </p:pic>
      <p:sp>
        <p:nvSpPr>
          <p:cNvPr id="23" name="Text 17"/>
          <p:cNvSpPr/>
          <p:nvPr/>
        </p:nvSpPr>
        <p:spPr>
          <a:xfrm>
            <a:off x="3854276" y="3073375"/>
            <a:ext cx="4674171" cy="135285"/>
          </a:xfrm>
          <a:prstGeom prst="rect">
            <a:avLst/>
          </a:prstGeom>
          <a:noFill/>
          <a:ln/>
        </p:spPr>
        <p:txBody>
          <a:bodyPr wrap="none" lIns="0" tIns="0" rIns="0" bIns="0" rtlCol="0" anchor="t"/>
          <a:lstStyle/>
          <a:p>
            <a:pPr algn="l" indent="0" marL="0">
              <a:lnSpc>
                <a:spcPct val="104000"/>
              </a:lnSpc>
              <a:buNone/>
            </a:pPr>
            <a:r>
              <a:rPr lang="en-US" sz="850" dirty="0">
                <a:solidFill>
                  <a:srgbClr val="272525"/>
                </a:solidFill>
                <a:latin typeface="Source Serif 4 SemiBold" pitchFamily="34" charset="0"/>
                <a:ea typeface="Source Serif 4 SemiBold" pitchFamily="34" charset="-122"/>
                <a:cs typeface="Source Serif 4 SemiBold" pitchFamily="34" charset="-120"/>
              </a:rPr>
              <a:t>Layer B — FMP &amp; Finnhub Authenticated Gateways</a:t>
            </a:r>
            <a:endParaRPr lang="en-US" sz="850" dirty="0"/>
          </a:p>
        </p:txBody>
      </p:sp>
      <p:sp>
        <p:nvSpPr>
          <p:cNvPr id="24" name="Text 18"/>
          <p:cNvSpPr/>
          <p:nvPr/>
        </p:nvSpPr>
        <p:spPr>
          <a:xfrm>
            <a:off x="3854276" y="3247430"/>
            <a:ext cx="4674171" cy="250775"/>
          </a:xfrm>
          <a:prstGeom prst="rect">
            <a:avLst/>
          </a:prstGeom>
          <a:noFill/>
          <a:ln/>
        </p:spPr>
        <p:txBody>
          <a:bodyPr wrap="square" lIns="0" tIns="0" rIns="0" bIns="0" rtlCol="0" anchor="t">
            <a:normAutofit/>
          </a:bodyPr>
          <a:lstStyle/>
          <a:p>
            <a:pPr algn="l" indent="0" marL="0">
              <a:lnSpc>
                <a:spcPct val="114000"/>
              </a:lnSpc>
              <a:buNone/>
            </a:pPr>
            <a:r>
              <a:rPr lang="en-US" sz="700" dirty="0">
                <a:solidFill>
                  <a:srgbClr val="272525"/>
                </a:solidFill>
                <a:latin typeface="Source Sans 3" pitchFamily="34" charset="0"/>
                <a:ea typeface="Source Sans 3" pitchFamily="34" charset="-122"/>
                <a:cs typeface="Source Sans 3" pitchFamily="34" charset="-120"/>
              </a:rPr>
              <a:t>Secondary authenticated API layer with rate-limit-aware request queuing. Provides redundancy when Alpaca returns incomplete share matrices.</a:t>
            </a:r>
            <a:endParaRPr lang="en-US" sz="700" dirty="0"/>
          </a:p>
        </p:txBody>
      </p:sp>
      <p:sp>
        <p:nvSpPr>
          <p:cNvPr id="25" name="Shape 19"/>
          <p:cNvSpPr/>
          <p:nvPr/>
        </p:nvSpPr>
        <p:spPr>
          <a:xfrm>
            <a:off x="3808288" y="3587800"/>
            <a:ext cx="4766146" cy="4763"/>
          </a:xfrm>
          <a:prstGeom prst="roundRect">
            <a:avLst>
              <a:gd name="adj" fmla="val 811669"/>
            </a:avLst>
          </a:prstGeom>
          <a:solidFill>
            <a:srgbClr val="D6BADD"/>
          </a:solidFill>
          <a:ln/>
        </p:spPr>
      </p:sp>
      <p:sp>
        <p:nvSpPr>
          <p:cNvPr id="26" name="Shape 20"/>
          <p:cNvSpPr/>
          <p:nvPr/>
        </p:nvSpPr>
        <p:spPr>
          <a:xfrm>
            <a:off x="523577" y="3636169"/>
            <a:ext cx="4048423" cy="608781"/>
          </a:xfrm>
          <a:prstGeom prst="roundRect">
            <a:avLst>
              <a:gd name="adj" fmla="val 6350"/>
            </a:avLst>
          </a:prstGeom>
          <a:solidFill>
            <a:srgbClr val="F0D4F7"/>
          </a:solidFill>
          <a:ln w="4763">
            <a:solidFill>
              <a:srgbClr val="D6BADD"/>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83048" y="3875782"/>
            <a:ext cx="129406" cy="129406"/>
          </a:xfrm>
          <a:prstGeom prst="rect">
            <a:avLst/>
          </a:prstGeom>
        </p:spPr>
      </p:pic>
      <p:sp>
        <p:nvSpPr>
          <p:cNvPr id="28" name="Text 21"/>
          <p:cNvSpPr/>
          <p:nvPr/>
        </p:nvSpPr>
        <p:spPr>
          <a:xfrm>
            <a:off x="4663976" y="3728145"/>
            <a:ext cx="3864471" cy="135285"/>
          </a:xfrm>
          <a:prstGeom prst="rect">
            <a:avLst/>
          </a:prstGeom>
          <a:noFill/>
          <a:ln/>
        </p:spPr>
        <p:txBody>
          <a:bodyPr wrap="none" lIns="0" tIns="0" rIns="0" bIns="0" rtlCol="0" anchor="t"/>
          <a:lstStyle/>
          <a:p>
            <a:pPr algn="l" indent="0" marL="0">
              <a:lnSpc>
                <a:spcPct val="104000"/>
              </a:lnSpc>
              <a:buNone/>
            </a:pPr>
            <a:r>
              <a:rPr lang="en-US" sz="850" dirty="0">
                <a:solidFill>
                  <a:srgbClr val="00FFA3"/>
                </a:solidFill>
                <a:latin typeface="Source Serif 4 SemiBold" pitchFamily="34" charset="0"/>
                <a:ea typeface="Source Serif 4 SemiBold" pitchFamily="34" charset="-122"/>
                <a:cs typeface="Source Serif 4 SemiBold" pitchFamily="34" charset="-120"/>
              </a:rPr>
              <a:t>Layer A — Live Alpaca × SEC Shares Outstanding</a:t>
            </a:r>
            <a:endParaRPr lang="en-US" sz="850" dirty="0"/>
          </a:p>
        </p:txBody>
      </p:sp>
      <p:sp>
        <p:nvSpPr>
          <p:cNvPr id="29" name="Text 22"/>
          <p:cNvSpPr/>
          <p:nvPr/>
        </p:nvSpPr>
        <p:spPr>
          <a:xfrm>
            <a:off x="4663976" y="3902199"/>
            <a:ext cx="3864471" cy="250775"/>
          </a:xfrm>
          <a:prstGeom prst="rect">
            <a:avLst/>
          </a:prstGeom>
          <a:noFill/>
          <a:ln/>
        </p:spPr>
        <p:txBody>
          <a:bodyPr wrap="square" lIns="0" tIns="0" rIns="0" bIns="0" rtlCol="0" anchor="t">
            <a:normAutofit/>
          </a:bodyPr>
          <a:lstStyle/>
          <a:p>
            <a:pPr algn="l" indent="0" marL="0">
              <a:lnSpc>
                <a:spcPct val="114000"/>
              </a:lnSpc>
              <a:buNone/>
            </a:pPr>
            <a:r>
              <a:rPr lang="en-US" sz="700" dirty="0">
                <a:solidFill>
                  <a:srgbClr val="272525"/>
                </a:solidFill>
                <a:latin typeface="Source Sans 3" pitchFamily="34" charset="0"/>
                <a:ea typeface="Source Sans 3" pitchFamily="34" charset="-122"/>
                <a:cs typeface="Source Sans 3" pitchFamily="34" charset="-120"/>
              </a:rPr>
              <a:t>Primary valuation layer. Multiplies real-time Alpaca price against SEC-verified shares outstanding for mathematically sound market cap computation.</a:t>
            </a:r>
            <a:endParaRPr lang="en-US" sz="700" dirty="0"/>
          </a:p>
        </p:txBody>
      </p:sp>
      <p:sp>
        <p:nvSpPr>
          <p:cNvPr id="30" name="Shape 23"/>
          <p:cNvSpPr/>
          <p:nvPr/>
        </p:nvSpPr>
        <p:spPr>
          <a:xfrm>
            <a:off x="523577" y="4317727"/>
            <a:ext cx="8096845" cy="419621"/>
          </a:xfrm>
          <a:prstGeom prst="roundRect">
            <a:avLst>
              <a:gd name="adj" fmla="val 9213"/>
            </a:avLst>
          </a:prstGeom>
          <a:solidFill>
            <a:srgbClr val="F0D4F7"/>
          </a:solidFill>
          <a:ln/>
        </p:spPr>
      </p:sp>
      <p:pic>
        <p:nvPicPr>
          <p:cNvPr id="31" name="Image 5" descr="preencoded.png">    </p:cNvPr>
          <p:cNvPicPr>
            <a:picLocks noChangeAspect="1"/>
          </p:cNvPicPr>
          <p:nvPr/>
        </p:nvPicPr>
        <p:blipFill>
          <a:blip r:embed="rId11"/>
          <a:stretch>
            <a:fillRect/>
          </a:stretch>
        </p:blipFill>
        <p:spPr>
          <a:xfrm>
            <a:off x="615553" y="4437906"/>
            <a:ext cx="115044" cy="91976"/>
          </a:xfrm>
          <a:prstGeom prst="rect">
            <a:avLst/>
          </a:prstGeom>
        </p:spPr>
      </p:pic>
      <p:sp>
        <p:nvSpPr>
          <p:cNvPr id="32" name="Text 24"/>
          <p:cNvSpPr/>
          <p:nvPr/>
        </p:nvSpPr>
        <p:spPr>
          <a:xfrm>
            <a:off x="822573" y="4405387"/>
            <a:ext cx="7705874" cy="250775"/>
          </a:xfrm>
          <a:prstGeom prst="rect">
            <a:avLst/>
          </a:prstGeom>
          <a:noFill/>
          <a:ln/>
        </p:spPr>
        <p:txBody>
          <a:bodyPr wrap="square" lIns="0" tIns="0" rIns="0" bIns="0" rtlCol="0" anchor="t">
            <a:normAutofit/>
          </a:bodyPr>
          <a:lstStyle/>
          <a:p>
            <a:pPr algn="l" indent="0" marL="0">
              <a:lnSpc>
                <a:spcPct val="114000"/>
              </a:lnSpc>
              <a:buNone/>
            </a:pPr>
            <a:r>
              <a:rPr lang="en-US" sz="700" dirty="0">
                <a:solidFill>
                  <a:srgbClr val="000000"/>
                </a:solidFill>
                <a:latin typeface="Source Sans 3" pitchFamily="34" charset="0"/>
                <a:ea typeface="Source Sans 3" pitchFamily="34" charset="-122"/>
                <a:cs typeface="Source Sans 3" pitchFamily="34" charset="-120"/>
              </a:rPr>
              <a:t>The Fail-Fast gate is not a retry mechanism — it is an architectural kill-switch. If Layer A returns $0.00, the system does not attempt Layer B. It aborts immediately, logs the failure event, and surfaces the error to the terminal UI. This design prevents silent data corruption.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23577" y="359941"/>
            <a:ext cx="626120" cy="99343"/>
          </a:xfrm>
          <a:prstGeom prst="roundRect">
            <a:avLst>
              <a:gd name="adj" fmla="val 22139"/>
            </a:avLst>
          </a:prstGeom>
          <a:solidFill>
            <a:srgbClr val="F0D4F7"/>
          </a:solidFill>
          <a:ln/>
        </p:spPr>
      </p:sp>
      <p:sp>
        <p:nvSpPr>
          <p:cNvPr id="3" name="Text 1"/>
          <p:cNvSpPr/>
          <p:nvPr/>
        </p:nvSpPr>
        <p:spPr>
          <a:xfrm>
            <a:off x="562794" y="379512"/>
            <a:ext cx="1004887" cy="60201"/>
          </a:xfrm>
          <a:prstGeom prst="rect">
            <a:avLst/>
          </a:prstGeom>
          <a:noFill/>
          <a:ln/>
        </p:spPr>
        <p:txBody>
          <a:bodyPr wrap="none" lIns="0" tIns="0" rIns="0" bIns="0" rtlCol="0" anchor="t"/>
          <a:lstStyle/>
          <a:p>
            <a:pPr algn="l" indent="0" marL="0">
              <a:lnSpc>
                <a:spcPct val="96000"/>
              </a:lnSpc>
              <a:buNone/>
            </a:pPr>
            <a:r>
              <a:rPr lang="en-US" sz="400" dirty="0">
                <a:solidFill>
                  <a:srgbClr val="272525"/>
                </a:solidFill>
                <a:latin typeface="Source Sans 3" pitchFamily="34" charset="0"/>
                <a:ea typeface="Source Sans 3" pitchFamily="34" charset="-122"/>
                <a:cs typeface="Source Sans 3" pitchFamily="34" charset="-120"/>
              </a:rPr>
              <a:t>BACKEND · RAG PIPELINE</a:t>
            </a:r>
            <a:endParaRPr lang="en-US" sz="400" dirty="0"/>
          </a:p>
        </p:txBody>
      </p:sp>
      <p:sp>
        <p:nvSpPr>
          <p:cNvPr id="4" name="Text 2"/>
          <p:cNvSpPr/>
          <p:nvPr/>
        </p:nvSpPr>
        <p:spPr>
          <a:xfrm>
            <a:off x="523577" y="472306"/>
            <a:ext cx="8096845" cy="19250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Source Serif 4 SemiBold" pitchFamily="34" charset="0"/>
                <a:ea typeface="Source Serif 4 SemiBold" pitchFamily="34" charset="-122"/>
                <a:cs typeface="Source Serif 4 SemiBold" pitchFamily="34" charset="-120"/>
              </a:rPr>
              <a:t>Autonomous SEC EDGAR Ingestion &amp; Vectorization Engine</a:t>
            </a:r>
            <a:endParaRPr lang="en-US" sz="1200" dirty="0"/>
          </a:p>
        </p:txBody>
      </p:sp>
      <p:sp>
        <p:nvSpPr>
          <p:cNvPr id="5" name="Text 3"/>
          <p:cNvSpPr/>
          <p:nvPr/>
        </p:nvSpPr>
        <p:spPr>
          <a:xfrm>
            <a:off x="523577" y="713854"/>
            <a:ext cx="8096845" cy="157163"/>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The SEC RAG vectorization engine is the computational heart of Socrates AI's qualitative intelligence layer. It autonomously ingests 10-K and 20-F filings, semantically slices them into retrievable chunks, generates high-dimensional embeddings via Cohere's cloud API, and injects them directly into PostgreSQL's pgvector extension — all without blocking the main FastAPI event loop.</a:t>
            </a:r>
            <a:endParaRPr lang="en-US" sz="500" dirty="0"/>
          </a:p>
        </p:txBody>
      </p:sp>
      <p:pic>
        <p:nvPicPr>
          <p:cNvPr id="6" name="Image 0" descr="preencoded.png">    </p:cNvPr>
          <p:cNvPicPr>
            <a:picLocks noChangeAspect="1"/>
          </p:cNvPicPr>
          <p:nvPr/>
        </p:nvPicPr>
        <p:blipFill>
          <a:blip r:embed="rId1"/>
          <a:stretch>
            <a:fillRect/>
          </a:stretch>
        </p:blipFill>
        <p:spPr>
          <a:xfrm>
            <a:off x="887909" y="907777"/>
            <a:ext cx="7368108" cy="3902646"/>
          </a:xfrm>
          <a:prstGeom prst="rect">
            <a:avLst/>
          </a:prstGeom>
        </p:spPr>
      </p:pic>
      <p:sp>
        <p:nvSpPr>
          <p:cNvPr id="7" name="Text 4"/>
          <p:cNvSpPr/>
          <p:nvPr/>
        </p:nvSpPr>
        <p:spPr>
          <a:xfrm>
            <a:off x="2015311" y="3696989"/>
            <a:ext cx="1714491" cy="214185"/>
          </a:xfrm>
          <a:prstGeom prst="rect">
            <a:avLst/>
          </a:prstGeom>
          <a:noFill/>
          <a:ln/>
        </p:spPr>
        <p:txBody>
          <a:bodyPr wrap="none" lIns="0" tIns="0" rIns="0" bIns="0" rtlCol="0" anchor="t"/>
          <a:lstStyle/>
          <a:p>
            <a:pPr algn="r" indent="0" marL="0">
              <a:lnSpc>
                <a:spcPct val="104000"/>
              </a:lnSpc>
              <a:buNone/>
            </a:pPr>
            <a:r>
              <a:rPr lang="en-US" sz="1350" dirty="0">
                <a:solidFill>
                  <a:srgbClr val="000000"/>
                </a:solidFill>
                <a:latin typeface="Source Serif 4 SemiBold" pitchFamily="34" charset="0"/>
                <a:ea typeface="Source Serif 4 SemiBold" pitchFamily="34" charset="-122"/>
                <a:cs typeface="Source Serif 4 SemiBold" pitchFamily="34" charset="-120"/>
              </a:rPr>
              <a:t>Document Fetch</a:t>
            </a:r>
            <a:endParaRPr lang="en-US" sz="1350" dirty="0"/>
          </a:p>
        </p:txBody>
      </p:sp>
      <p:sp>
        <p:nvSpPr>
          <p:cNvPr id="8" name="Text 5"/>
          <p:cNvSpPr/>
          <p:nvPr/>
        </p:nvSpPr>
        <p:spPr>
          <a:xfrm>
            <a:off x="1778480" y="3975948"/>
            <a:ext cx="1951322" cy="273266"/>
          </a:xfrm>
          <a:prstGeom prst="rect">
            <a:avLst/>
          </a:prstGeom>
          <a:noFill/>
          <a:ln/>
        </p:spPr>
        <p:txBody>
          <a:bodyPr wrap="square" lIns="0" tIns="0" rIns="0" bIns="0" rtlCol="0" anchor="t">
            <a:normAutofit/>
          </a:bodyPr>
          <a:lstStyle/>
          <a:p>
            <a:pPr algn="r" indent="0" marL="0">
              <a:lnSpc>
                <a:spcPct val="78000"/>
              </a:lnSpc>
              <a:buNone/>
            </a:pPr>
            <a:r>
              <a:rPr lang="en-US" sz="1100" dirty="0">
                <a:solidFill>
                  <a:srgbClr val="272525"/>
                </a:solidFill>
                <a:latin typeface="Source Sans 3" pitchFamily="34" charset="0"/>
                <a:ea typeface="Source Sans 3" pitchFamily="34" charset="-122"/>
                <a:cs typeface="Source Sans 3" pitchFamily="34" charset="-120"/>
              </a:rPr>
              <a:t>Async HTTP pull of SEC 10-K/20-F filings.</a:t>
            </a:r>
            <a:endParaRPr lang="en-US" sz="1100" dirty="0"/>
          </a:p>
        </p:txBody>
      </p:sp>
      <p:sp>
        <p:nvSpPr>
          <p:cNvPr id="9" name="Text 6"/>
          <p:cNvSpPr/>
          <p:nvPr/>
        </p:nvSpPr>
        <p:spPr>
          <a:xfrm>
            <a:off x="1302795" y="1468732"/>
            <a:ext cx="1714492" cy="214185"/>
          </a:xfrm>
          <a:prstGeom prst="rect">
            <a:avLst/>
          </a:prstGeom>
          <a:noFill/>
          <a:ln/>
        </p:spPr>
        <p:txBody>
          <a:bodyPr wrap="none" lIns="0" tIns="0" rIns="0" bIns="0" rtlCol="0" anchor="t"/>
          <a:lstStyle/>
          <a:p>
            <a:pPr algn="r" indent="0" marL="0">
              <a:lnSpc>
                <a:spcPct val="104000"/>
              </a:lnSpc>
              <a:buNone/>
            </a:pPr>
            <a:r>
              <a:rPr lang="en-US" sz="1350" dirty="0">
                <a:solidFill>
                  <a:srgbClr val="000000"/>
                </a:solidFill>
                <a:latin typeface="Source Serif 4 SemiBold" pitchFamily="34" charset="0"/>
                <a:ea typeface="Source Serif 4 SemiBold" pitchFamily="34" charset="-122"/>
                <a:cs typeface="Source Serif 4 SemiBold" pitchFamily="34" charset="-120"/>
              </a:rPr>
              <a:t>Text Splitting</a:t>
            </a:r>
            <a:endParaRPr lang="en-US" sz="1350" dirty="0"/>
          </a:p>
        </p:txBody>
      </p:sp>
      <p:sp>
        <p:nvSpPr>
          <p:cNvPr id="10" name="Text 7"/>
          <p:cNvSpPr/>
          <p:nvPr/>
        </p:nvSpPr>
        <p:spPr>
          <a:xfrm>
            <a:off x="1065964" y="1747691"/>
            <a:ext cx="1951322" cy="273266"/>
          </a:xfrm>
          <a:prstGeom prst="rect">
            <a:avLst/>
          </a:prstGeom>
          <a:noFill/>
          <a:ln/>
        </p:spPr>
        <p:txBody>
          <a:bodyPr wrap="square" lIns="0" tIns="0" rIns="0" bIns="0" rtlCol="0" anchor="t">
            <a:normAutofit/>
          </a:bodyPr>
          <a:lstStyle/>
          <a:p>
            <a:pPr algn="r" indent="0" marL="0">
              <a:lnSpc>
                <a:spcPct val="78000"/>
              </a:lnSpc>
              <a:buNone/>
            </a:pPr>
            <a:r>
              <a:rPr lang="en-US" sz="1100" dirty="0">
                <a:solidFill>
                  <a:srgbClr val="272525"/>
                </a:solidFill>
                <a:latin typeface="Source Sans 3" pitchFamily="34" charset="0"/>
                <a:ea typeface="Source Sans 3" pitchFamily="34" charset="-122"/>
                <a:cs typeface="Source Sans 3" pitchFamily="34" charset="-120"/>
              </a:rPr>
              <a:t>RecursiveCharacterTextSplitter: 1500 chars, 200 overlap.</a:t>
            </a:r>
            <a:endParaRPr lang="en-US" sz="1100" dirty="0"/>
          </a:p>
        </p:txBody>
      </p:sp>
      <p:sp>
        <p:nvSpPr>
          <p:cNvPr id="11" name="Text 8"/>
          <p:cNvSpPr/>
          <p:nvPr/>
        </p:nvSpPr>
        <p:spPr>
          <a:xfrm>
            <a:off x="5438221" y="1468732"/>
            <a:ext cx="1714491" cy="214185"/>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Source Serif 4 SemiBold" pitchFamily="34" charset="0"/>
                <a:ea typeface="Source Serif 4 SemiBold" pitchFamily="34" charset="-122"/>
                <a:cs typeface="Source Serif 4 SemiBold" pitchFamily="34" charset="-120"/>
              </a:rPr>
              <a:t>Batch Embedding</a:t>
            </a:r>
            <a:endParaRPr lang="en-US" sz="1350" dirty="0"/>
          </a:p>
        </p:txBody>
      </p:sp>
      <p:sp>
        <p:nvSpPr>
          <p:cNvPr id="12" name="Text 9"/>
          <p:cNvSpPr/>
          <p:nvPr/>
        </p:nvSpPr>
        <p:spPr>
          <a:xfrm>
            <a:off x="5438221" y="1747691"/>
            <a:ext cx="1951322" cy="273266"/>
          </a:xfrm>
          <a:prstGeom prst="rect">
            <a:avLst/>
          </a:prstGeom>
          <a:noFill/>
          <a:ln/>
        </p:spPr>
        <p:txBody>
          <a:bodyPr wrap="square" lIns="0" tIns="0" rIns="0" bIns="0" rtlCol="0" anchor="t">
            <a:normAutofit/>
          </a:bodyPr>
          <a:lstStyle/>
          <a:p>
            <a:pPr algn="l" indent="0" marL="0">
              <a:lnSpc>
                <a:spcPct val="78000"/>
              </a:lnSpc>
              <a:buNone/>
            </a:pPr>
            <a:r>
              <a:rPr lang="en-US" sz="1100" dirty="0">
                <a:solidFill>
                  <a:srgbClr val="272525"/>
                </a:solidFill>
                <a:latin typeface="Source Sans 3" pitchFamily="34" charset="0"/>
                <a:ea typeface="Source Sans 3" pitchFamily="34" charset="-122"/>
                <a:cs typeface="Source Sans 3" pitchFamily="34" charset="-120"/>
              </a:rPr>
              <a:t>Cohere embed-english-v3.0 used for vectorizing batches.</a:t>
            </a:r>
            <a:endParaRPr lang="en-US" sz="1100" dirty="0"/>
          </a:p>
        </p:txBody>
      </p:sp>
      <p:sp>
        <p:nvSpPr>
          <p:cNvPr id="13" name="Text 10"/>
          <p:cNvSpPr/>
          <p:nvPr/>
        </p:nvSpPr>
        <p:spPr>
          <a:xfrm>
            <a:off x="6126446" y="3697115"/>
            <a:ext cx="1714491" cy="214185"/>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Source Serif 4 SemiBold" pitchFamily="34" charset="0"/>
                <a:ea typeface="Source Serif 4 SemiBold" pitchFamily="34" charset="-122"/>
                <a:cs typeface="Source Serif 4 SemiBold" pitchFamily="34" charset="-120"/>
              </a:rPr>
              <a:t>Vector Insert</a:t>
            </a:r>
            <a:endParaRPr lang="en-US" sz="1350" dirty="0"/>
          </a:p>
        </p:txBody>
      </p:sp>
      <p:sp>
        <p:nvSpPr>
          <p:cNvPr id="14" name="Text 11"/>
          <p:cNvSpPr/>
          <p:nvPr/>
        </p:nvSpPr>
        <p:spPr>
          <a:xfrm>
            <a:off x="6126446" y="3976074"/>
            <a:ext cx="1951322" cy="273266"/>
          </a:xfrm>
          <a:prstGeom prst="rect">
            <a:avLst/>
          </a:prstGeom>
          <a:noFill/>
          <a:ln/>
        </p:spPr>
        <p:txBody>
          <a:bodyPr wrap="square" lIns="0" tIns="0" rIns="0" bIns="0" rtlCol="0" anchor="t">
            <a:normAutofit/>
          </a:bodyPr>
          <a:lstStyle/>
          <a:p>
            <a:pPr algn="l" indent="0" marL="0">
              <a:lnSpc>
                <a:spcPct val="78000"/>
              </a:lnSpc>
              <a:buNone/>
            </a:pPr>
            <a:r>
              <a:rPr lang="en-US" sz="1100" dirty="0">
                <a:solidFill>
                  <a:srgbClr val="272525"/>
                </a:solidFill>
                <a:latin typeface="Source Sans 3" pitchFamily="34" charset="0"/>
                <a:ea typeface="Source Sans 3" pitchFamily="34" charset="-122"/>
                <a:cs typeface="Source Sans 3" pitchFamily="34" charset="-120"/>
              </a:rPr>
              <a:t>Supabase pgvector bulk async insert into DB.</a:t>
            </a:r>
            <a:endParaRPr lang="en-US" sz="1100" dirty="0"/>
          </a:p>
        </p:txBody>
      </p:sp>
      <p:sp>
        <p:nvSpPr>
          <p:cNvPr id="15" name="Text 12"/>
          <p:cNvSpPr/>
          <p:nvPr/>
        </p:nvSpPr>
        <p:spPr>
          <a:xfrm>
            <a:off x="523577" y="4847183"/>
            <a:ext cx="8554045" cy="78581"/>
          </a:xfrm>
          <a:prstGeom prst="rect">
            <a:avLst/>
          </a:prstGeom>
          <a:noFill/>
          <a:ln/>
        </p:spPr>
        <p:txBody>
          <a:bodyPr wrap="none" lIns="0" tIns="0" rIns="0" bIns="0" rtlCol="0" anchor="t"/>
          <a:lstStyle/>
          <a:p>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Each stage of this pipeline operates asynchronously. The splitter, embedder, and database writer are decoupled FastAPI BackgroundTasks, meaning the frontend never waits for a 200-page 10-K to be fully vectorized before responding to the user.</a:t>
            </a:r>
            <a:endParaRPr lang="en-US" sz="500" dirty="0"/>
          </a:p>
        </p:txBody>
      </p:sp>
      <p:sp>
        <p:nvSpPr>
          <p:cNvPr id="16" name="Text 13"/>
          <p:cNvSpPr/>
          <p:nvPr/>
        </p:nvSpPr>
        <p:spPr>
          <a:xfrm>
            <a:off x="523577" y="4995193"/>
            <a:ext cx="3968576" cy="96217"/>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Source Serif 4 SemiBold" pitchFamily="34" charset="0"/>
                <a:ea typeface="Source Serif 4 SemiBold" pitchFamily="34" charset="-122"/>
                <a:cs typeface="Source Serif 4 SemiBold" pitchFamily="34" charset="-120"/>
              </a:rPr>
              <a:t>Semantic Slicing Strategy</a:t>
            </a:r>
            <a:endParaRPr lang="en-US" sz="600" dirty="0"/>
          </a:p>
        </p:txBody>
      </p:sp>
      <p:sp>
        <p:nvSpPr>
          <p:cNvPr id="17" name="Text 14"/>
          <p:cNvSpPr/>
          <p:nvPr/>
        </p:nvSpPr>
        <p:spPr>
          <a:xfrm>
            <a:off x="523577" y="5124078"/>
            <a:ext cx="3968576" cy="240506"/>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LangChain's </a:t>
            </a:r>
            <a:pPr algn="l" indent="0" marL="0">
              <a:lnSpc>
                <a:spcPct val="100000"/>
              </a:lnSpc>
              <a:buNone/>
            </a:pPr>
            <a:r>
              <a:rPr lang="en-US" sz="500" dirty="0">
                <a:solidFill>
                  <a:srgbClr val="272525"/>
                </a:solidFill>
                <a:highlight>
                  <a:srgbClr val="F2F2F2"/>
                </a:highlight>
                <a:latin typeface="Consolas" pitchFamily="34" charset="0"/>
                <a:ea typeface="Consolas" pitchFamily="34" charset="-122"/>
                <a:cs typeface="Consolas" pitchFamily="34" charset="-120"/>
              </a:rPr>
              <a:t>RecursiveCharacterTextSplitter</a:t>
            </a:r>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 is configured with a 1,500-character chunk size and 200-character overlap. The overlap is critical: it preserves semantic continuity across chunk boundaries, ensuring that risk factors spanning two chunks are not lost during retrieval. Splitter priorities follow SEC document hierarchy — Item 1A (Risk Factors) and Item 7 (MD&amp;A) receive higher chunk density.</a:t>
            </a:r>
            <a:endParaRPr lang="en-US" sz="500" dirty="0"/>
          </a:p>
        </p:txBody>
      </p:sp>
      <p:sp>
        <p:nvSpPr>
          <p:cNvPr id="18" name="Text 15"/>
          <p:cNvSpPr/>
          <p:nvPr/>
        </p:nvSpPr>
        <p:spPr>
          <a:xfrm>
            <a:off x="4656609" y="4995193"/>
            <a:ext cx="3968576" cy="96217"/>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Source Serif 4 SemiBold" pitchFamily="34" charset="0"/>
                <a:ea typeface="Source Serif 4 SemiBold" pitchFamily="34" charset="-122"/>
                <a:cs typeface="Source Serif 4 SemiBold" pitchFamily="34" charset="-120"/>
              </a:rPr>
              <a:t>Non-Blocking Orchestration</a:t>
            </a:r>
            <a:endParaRPr lang="en-US" sz="600" dirty="0"/>
          </a:p>
        </p:txBody>
      </p:sp>
      <p:sp>
        <p:nvSpPr>
          <p:cNvPr id="19" name="Text 16"/>
          <p:cNvSpPr/>
          <p:nvPr/>
        </p:nvSpPr>
        <p:spPr>
          <a:xfrm>
            <a:off x="4656609" y="5124078"/>
            <a:ext cx="3968576" cy="245269"/>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FastAPI's </a:t>
            </a:r>
            <a:pPr algn="l" indent="0" marL="0">
              <a:lnSpc>
                <a:spcPct val="100000"/>
              </a:lnSpc>
              <a:buNone/>
            </a:pPr>
            <a:r>
              <a:rPr lang="en-US" sz="500" dirty="0">
                <a:solidFill>
                  <a:srgbClr val="272525"/>
                </a:solidFill>
                <a:highlight>
                  <a:srgbClr val="F2F2F2"/>
                </a:highlight>
                <a:latin typeface="Consolas" pitchFamily="34" charset="0"/>
                <a:ea typeface="Consolas" pitchFamily="34" charset="-122"/>
                <a:cs typeface="Consolas" pitchFamily="34" charset="-120"/>
              </a:rPr>
              <a:t>BackgroundTasks</a:t>
            </a:r>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 dependency injection system ensures that vectorization executes entirely outside the main async event loop. When a user queries a ticker whose 10-K has not yet been vectorized, the system returns an HTTP 400 with a structured </a:t>
            </a:r>
            <a:pPr algn="l" indent="0" marL="0">
              <a:lnSpc>
                <a:spcPct val="100000"/>
              </a:lnSpc>
              <a:buNone/>
            </a:pPr>
            <a:r>
              <a:rPr lang="en-US" sz="500" dirty="0">
                <a:solidFill>
                  <a:srgbClr val="272525"/>
                </a:solidFill>
                <a:highlight>
                  <a:srgbClr val="F2F2F2"/>
                </a:highlight>
                <a:latin typeface="Consolas" pitchFamily="34" charset="0"/>
                <a:ea typeface="Consolas" pitchFamily="34" charset="-122"/>
                <a:cs typeface="Consolas" pitchFamily="34" charset="-120"/>
              </a:rPr>
              <a:t>vectorization_in_progress</a:t>
            </a:r>
            <a:pPr algn="l" indent="0" marL="0">
              <a:lnSpc>
                <a:spcPct val="100000"/>
              </a:lnSpc>
              <a:buNone/>
            </a:pPr>
            <a:r>
              <a:rPr lang="en-US" sz="500" dirty="0">
                <a:solidFill>
                  <a:srgbClr val="272525"/>
                </a:solidFill>
                <a:latin typeface="Source Sans 3" pitchFamily="34" charset="0"/>
                <a:ea typeface="Source Sans 3" pitchFamily="34" charset="-122"/>
                <a:cs typeface="Source Sans 3" pitchFamily="34" charset="-120"/>
              </a:rPr>
              <a:t> flag — the frontend intercepts this and streams live chunking logs to the terminal UI while the backend continues processing.</a:t>
            </a:r>
            <a:endParaRPr lang="en-US" sz="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23577" y="412775"/>
            <a:ext cx="1189955" cy="155451"/>
          </a:xfrm>
          <a:prstGeom prst="roundRect">
            <a:avLst>
              <a:gd name="adj" fmla="val 22106"/>
            </a:avLst>
          </a:prstGeom>
          <a:solidFill>
            <a:srgbClr val="F0D4F7"/>
          </a:solidFill>
          <a:ln/>
        </p:spPr>
      </p:sp>
      <p:sp>
        <p:nvSpPr>
          <p:cNvPr id="3" name="Text 1"/>
          <p:cNvSpPr/>
          <p:nvPr/>
        </p:nvSpPr>
        <p:spPr>
          <a:xfrm>
            <a:off x="584895" y="443433"/>
            <a:ext cx="1524521" cy="94134"/>
          </a:xfrm>
          <a:prstGeom prst="rect">
            <a:avLst/>
          </a:prstGeom>
          <a:noFill/>
          <a:ln/>
        </p:spPr>
        <p:txBody>
          <a:bodyPr wrap="none" lIns="0" tIns="0" rIns="0" bIns="0" rtlCol="0" anchor="t"/>
          <a:lstStyle/>
          <a:p>
            <a:pPr algn="l" indent="0" marL="0">
              <a:lnSpc>
                <a:spcPct val="96000"/>
              </a:lnSpc>
              <a:buNone/>
            </a:pPr>
            <a:r>
              <a:rPr lang="en-US" sz="600" dirty="0">
                <a:solidFill>
                  <a:srgbClr val="272525"/>
                </a:solidFill>
                <a:latin typeface="Source Sans 3" pitchFamily="34" charset="0"/>
                <a:ea typeface="Source Sans 3" pitchFamily="34" charset="-122"/>
                <a:cs typeface="Source Sans 3" pitchFamily="34" charset="-120"/>
              </a:rPr>
              <a:t>AI PIPELINE · INFERENCE LAYER</a:t>
            </a:r>
            <a:endParaRPr lang="en-US" sz="600" dirty="0"/>
          </a:p>
        </p:txBody>
      </p:sp>
      <p:sp>
        <p:nvSpPr>
          <p:cNvPr id="4" name="Text 2"/>
          <p:cNvSpPr/>
          <p:nvPr/>
        </p:nvSpPr>
        <p:spPr>
          <a:xfrm>
            <a:off x="523577" y="600149"/>
            <a:ext cx="8096845" cy="300782"/>
          </a:xfrm>
          <a:prstGeom prst="rect">
            <a:avLst/>
          </a:prstGeom>
          <a:noFill/>
          <a:ln/>
        </p:spPr>
        <p:txBody>
          <a:bodyPr wrap="none" lIns="0" tIns="0" rIns="0" bIns="0" rtlCol="0" anchor="t"/>
          <a:lstStyle/>
          <a:p>
            <a:pPr algn="l" indent="0" marL="0">
              <a:lnSpc>
                <a:spcPct val="104000"/>
              </a:lnSpc>
              <a:buNone/>
            </a:pPr>
            <a:r>
              <a:rPr lang="en-US" sz="1850" dirty="0">
                <a:solidFill>
                  <a:srgbClr val="000000"/>
                </a:solidFill>
                <a:latin typeface="Source Serif 4 SemiBold" pitchFamily="34" charset="0"/>
                <a:ea typeface="Source Serif 4 SemiBold" pitchFamily="34" charset="-122"/>
                <a:cs typeface="Source Serif 4 SemiBold" pitchFamily="34" charset="-120"/>
              </a:rPr>
              <a:t>High-Speed Inference &amp; Cost Optimization: The Cache Barrier</a:t>
            </a:r>
            <a:endParaRPr lang="en-US" sz="1850" dirty="0"/>
          </a:p>
        </p:txBody>
      </p:sp>
      <p:sp>
        <p:nvSpPr>
          <p:cNvPr id="5" name="Text 3"/>
          <p:cNvSpPr/>
          <p:nvPr/>
        </p:nvSpPr>
        <p:spPr>
          <a:xfrm>
            <a:off x="523577" y="1020738"/>
            <a:ext cx="8096845" cy="436885"/>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The AI inference layer is where Socrates AI differentiates itself from naive RAG implementations. A PostgreSQL-backed </a:t>
            </a:r>
            <a:pPr algn="l" indent="0" marL="0">
              <a:lnSpc>
                <a:spcPct val="119000"/>
              </a:lnSpc>
              <a:buNone/>
            </a:pPr>
            <a:r>
              <a:rPr lang="en-US" sz="800" b="1" dirty="0">
                <a:solidFill>
                  <a:srgbClr val="272525"/>
                </a:solidFill>
                <a:latin typeface="Source Sans 3 Bold" pitchFamily="34" charset="0"/>
                <a:ea typeface="Source Sans 3 Bold" pitchFamily="34" charset="-122"/>
                <a:cs typeface="Source Sans 3 Bold" pitchFamily="34" charset="-120"/>
              </a:rPr>
              <a:t>Cache Barrier</a:t>
            </a:r>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 intercepts identical daily queries before they ever reach the LLM, reducing average latency to under 0.5 seconds for repeated ticker lookups. When a cache miss occurs, a multi-query RAG ensemble executes against Groq's Llama-3.3-70B, producing conflict-free, institutional-grade trading thesis JSON.</a:t>
            </a:r>
            <a:endParaRPr lang="en-US" sz="800" dirty="0"/>
          </a:p>
        </p:txBody>
      </p:sp>
      <p:sp>
        <p:nvSpPr>
          <p:cNvPr id="6" name="Shape 4"/>
          <p:cNvSpPr/>
          <p:nvPr/>
        </p:nvSpPr>
        <p:spPr>
          <a:xfrm>
            <a:off x="449982" y="1547440"/>
            <a:ext cx="4070896" cy="3183285"/>
          </a:xfrm>
          <a:prstGeom prst="roundRect">
            <a:avLst>
              <a:gd name="adj" fmla="val 2313"/>
            </a:avLst>
          </a:prstGeom>
          <a:solidFill>
            <a:srgbClr val="BE49DF">
              <a:alpha val="95000"/>
            </a:srgbClr>
          </a:solidFill>
          <a:ln/>
        </p:spPr>
      </p:sp>
      <p:sp>
        <p:nvSpPr>
          <p:cNvPr id="7" name="Text 5"/>
          <p:cNvSpPr/>
          <p:nvPr/>
        </p:nvSpPr>
        <p:spPr>
          <a:xfrm>
            <a:off x="552227" y="1627287"/>
            <a:ext cx="3866406" cy="1503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Source Serif 4 SemiBold" pitchFamily="34" charset="0"/>
                <a:ea typeface="Source Serif 4 SemiBold" pitchFamily="34" charset="-122"/>
                <a:cs typeface="Source Serif 4 SemiBold" pitchFamily="34" charset="-120"/>
              </a:rPr>
              <a:t>The Cache Barrier Architecture</a:t>
            </a:r>
            <a:endParaRPr lang="en-US" sz="900" dirty="0"/>
          </a:p>
        </p:txBody>
      </p:sp>
      <p:sp>
        <p:nvSpPr>
          <p:cNvPr id="8" name="Text 6"/>
          <p:cNvSpPr/>
          <p:nvPr/>
        </p:nvSpPr>
        <p:spPr>
          <a:xfrm>
            <a:off x="552227" y="1857524"/>
            <a:ext cx="3866406" cy="747192"/>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000000"/>
                </a:solidFill>
                <a:latin typeface="Source Sans 3" pitchFamily="34" charset="0"/>
                <a:ea typeface="Source Sans 3" pitchFamily="34" charset="-122"/>
                <a:cs typeface="Source Sans 3" pitchFamily="34" charset="-120"/>
              </a:rPr>
              <a:t>Before any LLM call is made, PostgreSQL queries the </a:t>
            </a:r>
            <a:pPr algn="l" indent="0" marL="0">
              <a:lnSpc>
                <a:spcPct val="119000"/>
              </a:lnSpc>
              <a:buNone/>
            </a:pPr>
            <a:r>
              <a:rPr lang="en-US" sz="800" dirty="0">
                <a:solidFill>
                  <a:srgbClr val="000000"/>
                </a:solidFill>
                <a:highlight>
                  <a:srgbClr val="CB56EC"/>
                </a:highlight>
                <a:latin typeface="Consolas" pitchFamily="34" charset="0"/>
                <a:ea typeface="Consolas" pitchFamily="34" charset="-122"/>
                <a:cs typeface="Consolas" pitchFamily="34" charset="-120"/>
              </a:rPr>
              <a:t>inference_cache</a:t>
            </a:r>
            <a:pPr algn="l" indent="0" marL="0">
              <a:lnSpc>
                <a:spcPct val="119000"/>
              </a:lnSpc>
              <a:buNone/>
            </a:pPr>
            <a:r>
              <a:rPr lang="en-US" sz="800" dirty="0">
                <a:solidFill>
                  <a:srgbClr val="000000"/>
                </a:solidFill>
                <a:latin typeface="Source Sans 3" pitchFamily="34" charset="0"/>
                <a:ea typeface="Source Sans 3" pitchFamily="34" charset="-122"/>
                <a:cs typeface="Source Sans 3" pitchFamily="34" charset="-120"/>
              </a:rPr>
              <a:t> table with a composite key of </a:t>
            </a:r>
            <a:pPr algn="l" indent="0" marL="0">
              <a:lnSpc>
                <a:spcPct val="119000"/>
              </a:lnSpc>
              <a:buNone/>
            </a:pPr>
            <a:r>
              <a:rPr lang="en-US" sz="800" dirty="0">
                <a:solidFill>
                  <a:srgbClr val="000000"/>
                </a:solidFill>
                <a:highlight>
                  <a:srgbClr val="CB56EC"/>
                </a:highlight>
                <a:latin typeface="Consolas" pitchFamily="34" charset="0"/>
                <a:ea typeface="Consolas" pitchFamily="34" charset="-122"/>
                <a:cs typeface="Consolas" pitchFamily="34" charset="-120"/>
              </a:rPr>
              <a:t>(ticker_symbol, query_date, query_type)</a:t>
            </a:r>
            <a:pPr algn="l" indent="0" marL="0">
              <a:lnSpc>
                <a:spcPct val="119000"/>
              </a:lnSpc>
              <a:buNone/>
            </a:pPr>
            <a:r>
              <a:rPr lang="en-US" sz="800" dirty="0">
                <a:solidFill>
                  <a:srgbClr val="000000"/>
                </a:solidFill>
                <a:latin typeface="Source Sans 3" pitchFamily="34" charset="0"/>
                <a:ea typeface="Source Sans 3" pitchFamily="34" charset="-122"/>
                <a:cs typeface="Source Sans 3" pitchFamily="34" charset="-120"/>
              </a:rPr>
              <a:t>. If a valid record exists (TTL: 24 hours), the cached JSON is returned directly — bypassing Groq entirely. This single architectural decision reduces LLM compute costs by an estimated 60–70% for frequently accessed tickers while delivering sub-500ms response times.</a:t>
            </a:r>
            <a:endParaRPr lang="en-US" sz="800" dirty="0"/>
          </a:p>
        </p:txBody>
      </p:sp>
      <p:sp>
        <p:nvSpPr>
          <p:cNvPr id="9" name="Shape 7"/>
          <p:cNvSpPr/>
          <p:nvPr/>
        </p:nvSpPr>
        <p:spPr>
          <a:xfrm>
            <a:off x="552227" y="2694533"/>
            <a:ext cx="1893243" cy="735509"/>
          </a:xfrm>
          <a:prstGeom prst="roundRect">
            <a:avLst>
              <a:gd name="adj" fmla="val 5840"/>
            </a:avLst>
          </a:prstGeom>
          <a:solidFill>
            <a:srgbClr val="F0D4F7"/>
          </a:solidFill>
          <a:ln w="4763">
            <a:solidFill>
              <a:srgbClr val="D6BADD"/>
            </a:solidFill>
            <a:prstDash val="solid"/>
          </a:ln>
        </p:spPr>
      </p:sp>
      <p:sp>
        <p:nvSpPr>
          <p:cNvPr id="10" name="Text 8"/>
          <p:cNvSpPr/>
          <p:nvPr/>
        </p:nvSpPr>
        <p:spPr>
          <a:xfrm>
            <a:off x="659234" y="2801541"/>
            <a:ext cx="1679228" cy="1503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Source Serif 4 SemiBold" pitchFamily="34" charset="0"/>
                <a:ea typeface="Source Serif 4 SemiBold" pitchFamily="34" charset="-122"/>
                <a:cs typeface="Source Serif 4 SemiBold" pitchFamily="34" charset="-120"/>
              </a:rPr>
              <a:t>Cache Hit Path</a:t>
            </a:r>
            <a:endParaRPr lang="en-US" sz="900" dirty="0"/>
          </a:p>
        </p:txBody>
      </p:sp>
      <p:sp>
        <p:nvSpPr>
          <p:cNvPr id="11" name="Text 9"/>
          <p:cNvSpPr/>
          <p:nvPr/>
        </p:nvSpPr>
        <p:spPr>
          <a:xfrm>
            <a:off x="659234" y="3031778"/>
            <a:ext cx="1679228" cy="29125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000000"/>
                </a:solidFill>
                <a:latin typeface="Source Sans 3" pitchFamily="34" charset="0"/>
                <a:ea typeface="Source Sans 3" pitchFamily="34" charset="-122"/>
                <a:cs typeface="Source Sans 3" pitchFamily="34" charset="-120"/>
              </a:rPr>
              <a:t>PostgreSQL → Cached JSON → Frontend. Latency: &lt;0.5s. Cost: $0.</a:t>
            </a:r>
            <a:endParaRPr lang="en-US" sz="800" dirty="0"/>
          </a:p>
        </p:txBody>
      </p:sp>
      <p:sp>
        <p:nvSpPr>
          <p:cNvPr id="12" name="Shape 10"/>
          <p:cNvSpPr/>
          <p:nvPr/>
        </p:nvSpPr>
        <p:spPr>
          <a:xfrm>
            <a:off x="2525316" y="2694533"/>
            <a:ext cx="1893317" cy="735509"/>
          </a:xfrm>
          <a:prstGeom prst="roundRect">
            <a:avLst>
              <a:gd name="adj" fmla="val 5840"/>
            </a:avLst>
          </a:prstGeom>
          <a:solidFill>
            <a:srgbClr val="F0D4F7"/>
          </a:solidFill>
          <a:ln w="4763">
            <a:solidFill>
              <a:srgbClr val="D6BADD"/>
            </a:solidFill>
            <a:prstDash val="solid"/>
          </a:ln>
        </p:spPr>
      </p:sp>
      <p:sp>
        <p:nvSpPr>
          <p:cNvPr id="13" name="Text 11"/>
          <p:cNvSpPr/>
          <p:nvPr/>
        </p:nvSpPr>
        <p:spPr>
          <a:xfrm>
            <a:off x="2632323" y="2801541"/>
            <a:ext cx="1679302" cy="1503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Source Serif 4 SemiBold" pitchFamily="34" charset="0"/>
                <a:ea typeface="Source Serif 4 SemiBold" pitchFamily="34" charset="-122"/>
                <a:cs typeface="Source Serif 4 SemiBold" pitchFamily="34" charset="-120"/>
              </a:rPr>
              <a:t>Cache Miss Path</a:t>
            </a:r>
            <a:endParaRPr lang="en-US" sz="900" dirty="0"/>
          </a:p>
        </p:txBody>
      </p:sp>
      <p:sp>
        <p:nvSpPr>
          <p:cNvPr id="14" name="Text 12"/>
          <p:cNvSpPr/>
          <p:nvPr/>
        </p:nvSpPr>
        <p:spPr>
          <a:xfrm>
            <a:off x="2632323" y="3031778"/>
            <a:ext cx="1679302" cy="29125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000000"/>
                </a:solidFill>
                <a:latin typeface="Source Sans 3" pitchFamily="34" charset="0"/>
                <a:ea typeface="Source Sans 3" pitchFamily="34" charset="-122"/>
                <a:cs typeface="Source Sans 3" pitchFamily="34" charset="-120"/>
              </a:rPr>
              <a:t>RAG Ensemble → Groq LLM → JSON Validation → Cache Write → Frontend.</a:t>
            </a:r>
            <a:endParaRPr lang="en-US" sz="800" dirty="0"/>
          </a:p>
        </p:txBody>
      </p:sp>
      <p:sp>
        <p:nvSpPr>
          <p:cNvPr id="15" name="Text 13"/>
          <p:cNvSpPr/>
          <p:nvPr/>
        </p:nvSpPr>
        <p:spPr>
          <a:xfrm>
            <a:off x="4701480" y="1627287"/>
            <a:ext cx="3923705" cy="1503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Source Serif 4 SemiBold" pitchFamily="34" charset="0"/>
                <a:ea typeface="Source Serif 4 SemiBold" pitchFamily="34" charset="-122"/>
                <a:cs typeface="Source Serif 4 SemiBold" pitchFamily="34" charset="-120"/>
              </a:rPr>
              <a:t>Multi-Query RAG Ensemble</a:t>
            </a:r>
            <a:endParaRPr lang="en-US" sz="900" dirty="0"/>
          </a:p>
        </p:txBody>
      </p:sp>
      <p:sp>
        <p:nvSpPr>
          <p:cNvPr id="16" name="Text 14"/>
          <p:cNvSpPr/>
          <p:nvPr/>
        </p:nvSpPr>
        <p:spPr>
          <a:xfrm>
            <a:off x="4701480" y="1857524"/>
            <a:ext cx="3923705" cy="300782"/>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On a cache miss, Groq's API executes </a:t>
            </a:r>
            <a:pPr algn="l" indent="0" marL="0">
              <a:lnSpc>
                <a:spcPct val="1190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Llama-3.3-70b-versatile</a:t>
            </a:r>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 across three parallel semantic vector queries simultaneously:</a:t>
            </a:r>
            <a:endParaRPr lang="en-US" sz="80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39804" y="2251249"/>
            <a:ext cx="153367" cy="153367"/>
          </a:xfrm>
          <a:prstGeom prst="rect">
            <a:avLst/>
          </a:prstGeom>
        </p:spPr>
      </p:pic>
      <p:sp>
        <p:nvSpPr>
          <p:cNvPr id="18" name="Text 15"/>
          <p:cNvSpPr/>
          <p:nvPr/>
        </p:nvSpPr>
        <p:spPr>
          <a:xfrm>
            <a:off x="5033814" y="2248123"/>
            <a:ext cx="3591371" cy="150391"/>
          </a:xfrm>
          <a:prstGeom prst="rect">
            <a:avLst/>
          </a:prstGeom>
          <a:noFill/>
          <a:ln/>
        </p:spPr>
        <p:txBody>
          <a:bodyPr wrap="none" lIns="0" tIns="0" rIns="0" bIns="0" rtlCol="0" anchor="t"/>
          <a:lstStyle/>
          <a:p>
            <a:pPr algn="l" indent="0" marL="0">
              <a:lnSpc>
                <a:spcPct val="104000"/>
              </a:lnSpc>
              <a:buNone/>
            </a:pPr>
            <a:r>
              <a:rPr lang="en-US" sz="900" dirty="0">
                <a:solidFill>
                  <a:srgbClr val="272525"/>
                </a:solidFill>
                <a:latin typeface="Source Serif 4 SemiBold" pitchFamily="34" charset="0"/>
                <a:ea typeface="Source Serif 4 SemiBold" pitchFamily="34" charset="-122"/>
                <a:cs typeface="Source Serif 4 SemiBold" pitchFamily="34" charset="-120"/>
              </a:rPr>
              <a:t>Risks Query</a:t>
            </a:r>
            <a:endParaRPr lang="en-US" sz="900" dirty="0"/>
          </a:p>
        </p:txBody>
      </p:sp>
      <p:sp>
        <p:nvSpPr>
          <p:cNvPr id="19" name="Text 16"/>
          <p:cNvSpPr/>
          <p:nvPr/>
        </p:nvSpPr>
        <p:spPr>
          <a:xfrm>
            <a:off x="5033814" y="2478360"/>
            <a:ext cx="3591371" cy="29125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Retrieves top-k chunks from Item 1A Risk Factors and Legal Proceedings sections, weighted by cosine similarity to the user's query embedding.</a:t>
            </a:r>
            <a:endParaRPr lang="en-US" sz="8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9804" y="2932509"/>
            <a:ext cx="153367" cy="153367"/>
          </a:xfrm>
          <a:prstGeom prst="rect">
            <a:avLst/>
          </a:prstGeom>
        </p:spPr>
      </p:pic>
      <p:sp>
        <p:nvSpPr>
          <p:cNvPr id="21" name="Text 17"/>
          <p:cNvSpPr/>
          <p:nvPr/>
        </p:nvSpPr>
        <p:spPr>
          <a:xfrm>
            <a:off x="5033814" y="2929384"/>
            <a:ext cx="3591371" cy="150391"/>
          </a:xfrm>
          <a:prstGeom prst="rect">
            <a:avLst/>
          </a:prstGeom>
          <a:noFill/>
          <a:ln/>
        </p:spPr>
        <p:txBody>
          <a:bodyPr wrap="none" lIns="0" tIns="0" rIns="0" bIns="0" rtlCol="0" anchor="t"/>
          <a:lstStyle/>
          <a:p>
            <a:pPr algn="l" indent="0" marL="0">
              <a:lnSpc>
                <a:spcPct val="104000"/>
              </a:lnSpc>
              <a:buNone/>
            </a:pPr>
            <a:r>
              <a:rPr lang="en-US" sz="900" dirty="0">
                <a:solidFill>
                  <a:srgbClr val="272525"/>
                </a:solidFill>
                <a:latin typeface="Source Serif 4 SemiBold" pitchFamily="34" charset="0"/>
                <a:ea typeface="Source Serif 4 SemiBold" pitchFamily="34" charset="-122"/>
                <a:cs typeface="Source Serif 4 SemiBold" pitchFamily="34" charset="-120"/>
              </a:rPr>
              <a:t>Growth Query</a:t>
            </a:r>
            <a:endParaRPr lang="en-US" sz="900" dirty="0"/>
          </a:p>
        </p:txBody>
      </p:sp>
      <p:sp>
        <p:nvSpPr>
          <p:cNvPr id="22" name="Text 18"/>
          <p:cNvSpPr/>
          <p:nvPr/>
        </p:nvSpPr>
        <p:spPr>
          <a:xfrm>
            <a:off x="5033814" y="3159621"/>
            <a:ext cx="3591371" cy="29125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Targets MD&amp;A, Forward-Looking Statements, and Revenue Recognition sections to construct a quantitative growth thesis.</a:t>
            </a:r>
            <a:endParaRPr lang="en-US" sz="800" dirty="0"/>
          </a:p>
        </p:txBody>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39804" y="3613770"/>
            <a:ext cx="153367" cy="153367"/>
          </a:xfrm>
          <a:prstGeom prst="rect">
            <a:avLst/>
          </a:prstGeom>
        </p:spPr>
      </p:pic>
      <p:sp>
        <p:nvSpPr>
          <p:cNvPr id="24" name="Text 19"/>
          <p:cNvSpPr/>
          <p:nvPr/>
        </p:nvSpPr>
        <p:spPr>
          <a:xfrm>
            <a:off x="5033814" y="3610645"/>
            <a:ext cx="3591371" cy="150391"/>
          </a:xfrm>
          <a:prstGeom prst="rect">
            <a:avLst/>
          </a:prstGeom>
          <a:noFill/>
          <a:ln/>
        </p:spPr>
        <p:txBody>
          <a:bodyPr wrap="none" lIns="0" tIns="0" rIns="0" bIns="0" rtlCol="0" anchor="t"/>
          <a:lstStyle/>
          <a:p>
            <a:pPr algn="l" indent="0" marL="0">
              <a:lnSpc>
                <a:spcPct val="104000"/>
              </a:lnSpc>
              <a:buNone/>
            </a:pPr>
            <a:r>
              <a:rPr lang="en-US" sz="900" dirty="0">
                <a:solidFill>
                  <a:srgbClr val="272525"/>
                </a:solidFill>
                <a:latin typeface="Source Serif 4 SemiBold" pitchFamily="34" charset="0"/>
                <a:ea typeface="Source Serif 4 SemiBold" pitchFamily="34" charset="-122"/>
                <a:cs typeface="Source Serif 4 SemiBold" pitchFamily="34" charset="-120"/>
              </a:rPr>
              <a:t>Financials Query</a:t>
            </a:r>
            <a:endParaRPr lang="en-US" sz="900" dirty="0"/>
          </a:p>
        </p:txBody>
      </p:sp>
      <p:sp>
        <p:nvSpPr>
          <p:cNvPr id="25" name="Text 20"/>
          <p:cNvSpPr/>
          <p:nvPr/>
        </p:nvSpPr>
        <p:spPr>
          <a:xfrm>
            <a:off x="5033814" y="3840882"/>
            <a:ext cx="3591371" cy="29125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Extracts balance sheet metrics, cash flow data, and key ratios from structured filing tables, cross-referenced with live Alpaca price data.</a:t>
            </a:r>
            <a:endParaRPr lang="en-US" sz="800" dirty="0"/>
          </a:p>
        </p:txBody>
      </p:sp>
      <p:sp>
        <p:nvSpPr>
          <p:cNvPr id="26" name="Text 21"/>
          <p:cNvSpPr/>
          <p:nvPr/>
        </p:nvSpPr>
        <p:spPr>
          <a:xfrm>
            <a:off x="4701480" y="4221956"/>
            <a:ext cx="3923705" cy="436885"/>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All three query results are merged, deduplicated, and validated against a strict Pydantic JSON schema before being returned. Output is guaranteed to be conflict-free and machine-parseable.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23577" y="384795"/>
            <a:ext cx="1205210" cy="158502"/>
          </a:xfrm>
          <a:prstGeom prst="roundRect">
            <a:avLst>
              <a:gd name="adj" fmla="val 22114"/>
            </a:avLst>
          </a:prstGeom>
          <a:solidFill>
            <a:srgbClr val="F0D4F7"/>
          </a:solidFill>
          <a:ln/>
        </p:spPr>
      </p:sp>
      <p:sp>
        <p:nvSpPr>
          <p:cNvPr id="3" name="Text 1"/>
          <p:cNvSpPr/>
          <p:nvPr/>
        </p:nvSpPr>
        <p:spPr>
          <a:xfrm>
            <a:off x="586160" y="416049"/>
            <a:ext cx="1537246" cy="95994"/>
          </a:xfrm>
          <a:prstGeom prst="rect">
            <a:avLst/>
          </a:prstGeom>
          <a:noFill/>
          <a:ln/>
        </p:spPr>
        <p:txBody>
          <a:bodyPr wrap="none" lIns="0" tIns="0" rIns="0" bIns="0" rtlCol="0" anchor="t"/>
          <a:lstStyle/>
          <a:p>
            <a:pPr algn="l" indent="0" marL="0">
              <a:lnSpc>
                <a:spcPct val="96000"/>
              </a:lnSpc>
              <a:buNone/>
            </a:pPr>
            <a:r>
              <a:rPr lang="en-US" sz="650" dirty="0">
                <a:solidFill>
                  <a:srgbClr val="272525"/>
                </a:solidFill>
                <a:latin typeface="Source Sans 3" pitchFamily="34" charset="0"/>
                <a:ea typeface="Source Sans 3" pitchFamily="34" charset="-122"/>
                <a:cs typeface="Source Sans 3" pitchFamily="34" charset="-120"/>
              </a:rPr>
              <a:t>FRONTEND · UI ARCHITECTURE</a:t>
            </a:r>
            <a:endParaRPr lang="en-US" sz="650" dirty="0"/>
          </a:p>
        </p:txBody>
      </p:sp>
      <p:sp>
        <p:nvSpPr>
          <p:cNvPr id="4" name="Text 2"/>
          <p:cNvSpPr/>
          <p:nvPr/>
        </p:nvSpPr>
        <p:spPr>
          <a:xfrm>
            <a:off x="523577" y="576486"/>
            <a:ext cx="8096845" cy="306809"/>
          </a:xfrm>
          <a:prstGeom prst="rect">
            <a:avLst/>
          </a:prstGeom>
          <a:noFill/>
          <a:ln/>
        </p:spPr>
        <p:txBody>
          <a:bodyPr wrap="none" lIns="0" tIns="0" rIns="0" bIns="0" rtlCol="0" anchor="t"/>
          <a:lstStyle/>
          <a:p>
            <a:pPr algn="l" indent="0" marL="0">
              <a:lnSpc>
                <a:spcPct val="104000"/>
              </a:lnSpc>
              <a:buNone/>
            </a:pPr>
            <a:r>
              <a:rPr lang="en-US" sz="1900" dirty="0">
                <a:solidFill>
                  <a:srgbClr val="000000"/>
                </a:solidFill>
                <a:latin typeface="Source Serif 4 SemiBold" pitchFamily="34" charset="0"/>
                <a:ea typeface="Source Serif 4 SemiBold" pitchFamily="34" charset="-122"/>
                <a:cs typeface="Source Serif 4 SemiBold" pitchFamily="34" charset="-120"/>
              </a:rPr>
              <a:t>Institutional Research Terminal UI</a:t>
            </a:r>
            <a:endParaRPr lang="en-US" sz="1900" dirty="0"/>
          </a:p>
        </p:txBody>
      </p:sp>
      <p:sp>
        <p:nvSpPr>
          <p:cNvPr id="5" name="Text 3"/>
          <p:cNvSpPr/>
          <p:nvPr/>
        </p:nvSpPr>
        <p:spPr>
          <a:xfrm>
            <a:off x="523577" y="1007938"/>
            <a:ext cx="8096845" cy="449833"/>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The Socrates AI frontend is engineered to replicate the information density, speed, and aesthetic of a Bloomberg Terminal — built on modern React 18 and Next.js 14. The layout is governed by a strict 12-column CSS Grid system, ensuring pixel-perfect alignment across all viewport sizes while maintaining the dense data presentation that institutional researchers require.</a:t>
            </a:r>
            <a:endParaRPr lang="en-US" sz="800" dirty="0"/>
          </a:p>
        </p:txBody>
      </p:sp>
      <p:sp>
        <p:nvSpPr>
          <p:cNvPr id="6" name="Text 4"/>
          <p:cNvSpPr/>
          <p:nvPr/>
        </p:nvSpPr>
        <p:spPr>
          <a:xfrm>
            <a:off x="523577" y="1634356"/>
            <a:ext cx="3921175" cy="153367"/>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Source Serif 4 SemiBold" pitchFamily="34" charset="0"/>
                <a:ea typeface="Source Serif 4 SemiBold" pitchFamily="34" charset="-122"/>
                <a:cs typeface="Source Serif 4 SemiBold" pitchFamily="34" charset="-120"/>
              </a:rPr>
              <a:t>Grid Architecture</a:t>
            </a:r>
            <a:endParaRPr lang="en-US" sz="950" dirty="0"/>
          </a:p>
        </p:txBody>
      </p:sp>
      <p:sp>
        <p:nvSpPr>
          <p:cNvPr id="7" name="Text 5"/>
          <p:cNvSpPr/>
          <p:nvPr/>
        </p:nvSpPr>
        <p:spPr>
          <a:xfrm>
            <a:off x="523577" y="1870844"/>
            <a:ext cx="4378375" cy="149944"/>
          </a:xfrm>
          <a:prstGeom prst="rect">
            <a:avLst/>
          </a:prstGeom>
          <a:noFill/>
          <a:ln/>
        </p:spPr>
        <p:txBody>
          <a:bodyPr wrap="none" lIns="0" tIns="0" rIns="0" bIns="0" rtlCol="0" anchor="t"/>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The UI is divided into two primary zones within a 12-column grid:</a:t>
            </a:r>
            <a:endParaRPr lang="en-US" sz="8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2114252"/>
            <a:ext cx="1918990" cy="1668438"/>
          </a:xfrm>
          <a:prstGeom prst="rect">
            <a:avLst/>
          </a:prstGeom>
        </p:spPr>
      </p:pic>
      <p:sp>
        <p:nvSpPr>
          <p:cNvPr id="9" name="Text 6"/>
          <p:cNvSpPr/>
          <p:nvPr/>
        </p:nvSpPr>
        <p:spPr>
          <a:xfrm>
            <a:off x="1404863" y="2184797"/>
            <a:ext cx="156418" cy="195560"/>
          </a:xfrm>
          <a:prstGeom prst="rect">
            <a:avLst/>
          </a:prstGeom>
          <a:noFill/>
          <a:ln/>
        </p:spPr>
        <p:txBody>
          <a:bodyPr wrap="none" lIns="0" tIns="0" rIns="0" bIns="0" rtlCol="0" anchor="ctr"/>
          <a:lstStyle/>
          <a:p>
            <a:pPr algn="ctr" indent="0" marL="0">
              <a:lnSpc>
                <a:spcPct val="100000"/>
              </a:lnSpc>
              <a:buNone/>
            </a:pPr>
            <a:r>
              <a:rPr lang="en-US" sz="1200" dirty="0">
                <a:solidFill>
                  <a:srgbClr val="272525"/>
                </a:solidFill>
                <a:latin typeface="Source Serif 4 SemiBold" pitchFamily="34" charset="0"/>
                <a:ea typeface="Source Serif 4 SemiBold" pitchFamily="34" charset="-122"/>
                <a:cs typeface="Source Serif 4 SemiBold" pitchFamily="34" charset="-120"/>
              </a:rPr>
              <a:t>1</a:t>
            </a:r>
            <a:endParaRPr lang="en-US" sz="1200" dirty="0"/>
          </a:p>
        </p:txBody>
      </p:sp>
      <p:sp>
        <p:nvSpPr>
          <p:cNvPr id="10" name="Text 7"/>
          <p:cNvSpPr/>
          <p:nvPr/>
        </p:nvSpPr>
        <p:spPr>
          <a:xfrm>
            <a:off x="642119" y="2524571"/>
            <a:ext cx="1681907" cy="306735"/>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4-Column Sticky Telemetry Sidebar</a:t>
            </a:r>
            <a:endParaRPr lang="en-US" sz="950" dirty="0"/>
          </a:p>
        </p:txBody>
      </p:sp>
      <p:sp>
        <p:nvSpPr>
          <p:cNvPr id="11" name="Text 8"/>
          <p:cNvSpPr/>
          <p:nvPr/>
        </p:nvSpPr>
        <p:spPr>
          <a:xfrm>
            <a:off x="642119" y="2914427"/>
            <a:ext cx="1681907" cy="749722"/>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Persistent across all routes. Displays live backend execution logs, API status indicators, vectorization progress bars, and system health metrics. Never unmounts during active RAG queries.</a:t>
            </a:r>
            <a:endParaRPr lang="en-US" sz="8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25688" y="2114252"/>
            <a:ext cx="1919064" cy="1668438"/>
          </a:xfrm>
          <a:prstGeom prst="rect">
            <a:avLst/>
          </a:prstGeom>
        </p:spPr>
      </p:pic>
      <p:sp>
        <p:nvSpPr>
          <p:cNvPr id="13" name="Text 9"/>
          <p:cNvSpPr/>
          <p:nvPr/>
        </p:nvSpPr>
        <p:spPr>
          <a:xfrm>
            <a:off x="3406973" y="2184797"/>
            <a:ext cx="156418" cy="195560"/>
          </a:xfrm>
          <a:prstGeom prst="rect">
            <a:avLst/>
          </a:prstGeom>
          <a:noFill/>
          <a:ln/>
        </p:spPr>
        <p:txBody>
          <a:bodyPr wrap="none" lIns="0" tIns="0" rIns="0" bIns="0" rtlCol="0" anchor="ctr"/>
          <a:lstStyle/>
          <a:p>
            <a:pPr algn="ctr" indent="0" marL="0">
              <a:lnSpc>
                <a:spcPct val="100000"/>
              </a:lnSpc>
              <a:buNone/>
            </a:pPr>
            <a:r>
              <a:rPr lang="en-US" sz="1200" dirty="0">
                <a:solidFill>
                  <a:srgbClr val="272525"/>
                </a:solidFill>
                <a:latin typeface="Source Serif 4 SemiBold" pitchFamily="34" charset="0"/>
                <a:ea typeface="Source Serif 4 SemiBold" pitchFamily="34" charset="-122"/>
                <a:cs typeface="Source Serif 4 SemiBold" pitchFamily="34" charset="-120"/>
              </a:rPr>
              <a:t>2</a:t>
            </a:r>
            <a:endParaRPr lang="en-US" sz="1200" dirty="0"/>
          </a:p>
        </p:txBody>
      </p:sp>
      <p:sp>
        <p:nvSpPr>
          <p:cNvPr id="14" name="Text 10"/>
          <p:cNvSpPr/>
          <p:nvPr/>
        </p:nvSpPr>
        <p:spPr>
          <a:xfrm>
            <a:off x="2644229" y="2524571"/>
            <a:ext cx="1681981" cy="153367"/>
          </a:xfrm>
          <a:prstGeom prst="rect">
            <a:avLst/>
          </a:prstGeom>
          <a:noFill/>
          <a:ln/>
        </p:spPr>
        <p:txBody>
          <a:bodyPr wrap="none" lIns="0" tIns="0" rIns="0" bIns="0" rtlCol="0" anchor="t"/>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8-Column Main Dashboard</a:t>
            </a:r>
            <a:endParaRPr lang="en-US" sz="950" dirty="0"/>
          </a:p>
        </p:txBody>
      </p:sp>
      <p:sp>
        <p:nvSpPr>
          <p:cNvPr id="15" name="Text 11"/>
          <p:cNvSpPr/>
          <p:nvPr/>
        </p:nvSpPr>
        <p:spPr>
          <a:xfrm>
            <a:off x="2644229" y="2761059"/>
            <a:ext cx="1681981" cy="899666"/>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Renders the primary research output: Sentiment analysis matrices, Bull/Bear case summaries, Risk/Growth factor tables, and live price charts. Dynamically resizes based on content density.</a:t>
            </a:r>
            <a:endParaRPr lang="en-US" sz="800" dirty="0"/>
          </a:p>
        </p:txBody>
      </p:sp>
      <p:sp>
        <p:nvSpPr>
          <p:cNvPr id="16" name="Text 12"/>
          <p:cNvSpPr/>
          <p:nvPr/>
        </p:nvSpPr>
        <p:spPr>
          <a:xfrm>
            <a:off x="4704011" y="1634356"/>
            <a:ext cx="3921175" cy="153367"/>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Source Serif 4 SemiBold" pitchFamily="34" charset="0"/>
                <a:ea typeface="Source Serif 4 SemiBold" pitchFamily="34" charset="-122"/>
                <a:cs typeface="Source Serif 4 SemiBold" pitchFamily="34" charset="-120"/>
              </a:rPr>
              <a:t>Performance &amp; Rendering Strategy</a:t>
            </a:r>
            <a:endParaRPr lang="en-US" sz="950" dirty="0"/>
          </a:p>
        </p:txBody>
      </p:sp>
      <p:sp>
        <p:nvSpPr>
          <p:cNvPr id="17" name="Text 13"/>
          <p:cNvSpPr/>
          <p:nvPr/>
        </p:nvSpPr>
        <p:spPr>
          <a:xfrm>
            <a:off x="4704011" y="1870844"/>
            <a:ext cx="3921175" cy="759247"/>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Next.js 14's App Router with React Server Components (RSC) is used for initial data fetching, while React 18's concurrent features (</a:t>
            </a:r>
            <a:pPr algn="l" indent="0" marL="0">
              <a:lnSpc>
                <a:spcPct val="1200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useTransition</a:t>
            </a:r>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 </a:t>
            </a:r>
            <a:pPr algn="l" indent="0" marL="0">
              <a:lnSpc>
                <a:spcPct val="1200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useOptimistic</a:t>
            </a:r>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 ensure the UI remains responsive during heavy computation. Tailwind CSS provides atomic styling with zero runtime overhead. Critical rendering paths are optimized to achieve First Contentful Paint under 1.2 seconds on standard broadband.</a:t>
            </a:r>
            <a:endParaRPr lang="en-US" sz="8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04011" y="2723555"/>
            <a:ext cx="260747" cy="260747"/>
          </a:xfrm>
          <a:prstGeom prst="rect">
            <a:avLst/>
          </a:prstGeom>
        </p:spPr>
      </p:pic>
      <p:sp>
        <p:nvSpPr>
          <p:cNvPr id="19" name="Text 14"/>
          <p:cNvSpPr/>
          <p:nvPr/>
        </p:nvSpPr>
        <p:spPr>
          <a:xfrm>
            <a:off x="5068639" y="2723555"/>
            <a:ext cx="3556546" cy="153367"/>
          </a:xfrm>
          <a:prstGeom prst="rect">
            <a:avLst/>
          </a:prstGeom>
          <a:noFill/>
          <a:ln/>
        </p:spPr>
        <p:txBody>
          <a:bodyPr wrap="none" lIns="0" tIns="0" rIns="0" bIns="0" rtlCol="0" anchor="t"/>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Sub-Second FCP</a:t>
            </a:r>
            <a:endParaRPr lang="en-US" sz="950" dirty="0"/>
          </a:p>
        </p:txBody>
      </p:sp>
      <p:sp>
        <p:nvSpPr>
          <p:cNvPr id="20" name="Text 15"/>
          <p:cNvSpPr/>
          <p:nvPr/>
        </p:nvSpPr>
        <p:spPr>
          <a:xfrm>
            <a:off x="5068639" y="2960043"/>
            <a:ext cx="3556546" cy="299889"/>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Server-side rendering + edge caching via Vercel ensures institutional-grade load times.</a:t>
            </a:r>
            <a:endParaRPr lang="en-US" sz="800" dirty="0"/>
          </a:p>
        </p:txBody>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04011" y="3426172"/>
            <a:ext cx="260747" cy="260747"/>
          </a:xfrm>
          <a:prstGeom prst="rect">
            <a:avLst/>
          </a:prstGeom>
        </p:spPr>
      </p:pic>
      <p:sp>
        <p:nvSpPr>
          <p:cNvPr id="22" name="Text 16"/>
          <p:cNvSpPr/>
          <p:nvPr/>
        </p:nvSpPr>
        <p:spPr>
          <a:xfrm>
            <a:off x="5068639" y="3426172"/>
            <a:ext cx="3556546" cy="153367"/>
          </a:xfrm>
          <a:prstGeom prst="rect">
            <a:avLst/>
          </a:prstGeom>
          <a:noFill/>
          <a:ln/>
        </p:spPr>
        <p:txBody>
          <a:bodyPr wrap="none" lIns="0" tIns="0" rIns="0" bIns="0" rtlCol="0" anchor="t"/>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12-Column CSS Grid</a:t>
            </a:r>
            <a:endParaRPr lang="en-US" sz="950" dirty="0"/>
          </a:p>
        </p:txBody>
      </p:sp>
      <p:sp>
        <p:nvSpPr>
          <p:cNvPr id="23" name="Text 17"/>
          <p:cNvSpPr/>
          <p:nvPr/>
        </p:nvSpPr>
        <p:spPr>
          <a:xfrm>
            <a:off x="5068639" y="3662660"/>
            <a:ext cx="3556546" cy="299889"/>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Strict grid system ensures Bloomberg Terminal-level information density without visual clutter.</a:t>
            </a:r>
            <a:endParaRPr lang="en-US" sz="800" dirty="0"/>
          </a:p>
        </p:txBody>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04011" y="4128790"/>
            <a:ext cx="260747" cy="260747"/>
          </a:xfrm>
          <a:prstGeom prst="rect">
            <a:avLst/>
          </a:prstGeom>
        </p:spPr>
      </p:pic>
      <p:sp>
        <p:nvSpPr>
          <p:cNvPr id="25" name="Text 18"/>
          <p:cNvSpPr/>
          <p:nvPr/>
        </p:nvSpPr>
        <p:spPr>
          <a:xfrm>
            <a:off x="5068639" y="4128790"/>
            <a:ext cx="3556546" cy="153367"/>
          </a:xfrm>
          <a:prstGeom prst="rect">
            <a:avLst/>
          </a:prstGeom>
          <a:noFill/>
          <a:ln/>
        </p:spPr>
        <p:txBody>
          <a:bodyPr wrap="none" lIns="0" tIns="0" rIns="0" bIns="0" rtlCol="0" anchor="t"/>
          <a:lstStyle/>
          <a:p>
            <a:pPr algn="l" indent="0" marL="0">
              <a:lnSpc>
                <a:spcPct val="104000"/>
              </a:lnSpc>
              <a:buNone/>
            </a:pPr>
            <a:r>
              <a:rPr lang="en-US" sz="950" dirty="0">
                <a:solidFill>
                  <a:srgbClr val="272525"/>
                </a:solidFill>
                <a:latin typeface="Source Serif 4 SemiBold" pitchFamily="34" charset="0"/>
                <a:ea typeface="Source Serif 4 SemiBold" pitchFamily="34" charset="-122"/>
                <a:cs typeface="Source Serif 4 SemiBold" pitchFamily="34" charset="-120"/>
              </a:rPr>
              <a:t>Dark Theme Aesthetic</a:t>
            </a:r>
            <a:endParaRPr lang="en-US" sz="950" dirty="0"/>
          </a:p>
        </p:txBody>
      </p:sp>
      <p:sp>
        <p:nvSpPr>
          <p:cNvPr id="26" name="Text 19"/>
          <p:cNvSpPr/>
          <p:nvPr/>
        </p:nvSpPr>
        <p:spPr>
          <a:xfrm>
            <a:off x="5068639" y="4365278"/>
            <a:ext cx="3556546" cy="299889"/>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272525"/>
                </a:solidFill>
                <a:latin typeface="Source Sans 3" pitchFamily="34" charset="0"/>
                <a:ea typeface="Source Sans 3" pitchFamily="34" charset="-122"/>
                <a:cs typeface="Source Sans 3" pitchFamily="34" charset="-120"/>
              </a:rPr>
              <a:t>Charcoal backgrounds with emerald and cyan accent glows replicate professional trading terminal aesthetics.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23577" y="426095"/>
            <a:ext cx="1069181" cy="124271"/>
          </a:xfrm>
          <a:prstGeom prst="roundRect">
            <a:avLst>
              <a:gd name="adj" fmla="val 22122"/>
            </a:avLst>
          </a:prstGeom>
          <a:solidFill>
            <a:srgbClr val="F0D4F7"/>
          </a:solidFill>
          <a:ln/>
        </p:spPr>
      </p:sp>
      <p:sp>
        <p:nvSpPr>
          <p:cNvPr id="3" name="Text 1"/>
          <p:cNvSpPr/>
          <p:nvPr/>
        </p:nvSpPr>
        <p:spPr>
          <a:xfrm>
            <a:off x="572616" y="450577"/>
            <a:ext cx="1428304" cy="75307"/>
          </a:xfrm>
          <a:prstGeom prst="rect">
            <a:avLst/>
          </a:prstGeom>
          <a:noFill/>
          <a:ln/>
        </p:spPr>
        <p:txBody>
          <a:bodyPr wrap="none" lIns="0" tIns="0" rIns="0" bIns="0" rtlCol="0" anchor="t"/>
          <a:lstStyle/>
          <a:p>
            <a:pPr algn="l" indent="0" marL="0">
              <a:lnSpc>
                <a:spcPct val="96000"/>
              </a:lnSpc>
              <a:buNone/>
            </a:pPr>
            <a:r>
              <a:rPr lang="en-US" sz="500" dirty="0">
                <a:solidFill>
                  <a:srgbClr val="272525"/>
                </a:solidFill>
                <a:latin typeface="Source Sans 3" pitchFamily="34" charset="0"/>
                <a:ea typeface="Source Sans 3" pitchFamily="34" charset="-122"/>
                <a:cs typeface="Source Sans 3" pitchFamily="34" charset="-120"/>
              </a:rPr>
              <a:t>FRONTEND · REAL-TIME TELEMETRY</a:t>
            </a:r>
            <a:endParaRPr lang="en-US" sz="500" dirty="0"/>
          </a:p>
        </p:txBody>
      </p:sp>
      <p:sp>
        <p:nvSpPr>
          <p:cNvPr id="4" name="Text 2"/>
          <p:cNvSpPr/>
          <p:nvPr/>
        </p:nvSpPr>
        <p:spPr>
          <a:xfrm>
            <a:off x="523577" y="570756"/>
            <a:ext cx="8096845" cy="240581"/>
          </a:xfrm>
          <a:prstGeom prst="rect">
            <a:avLst/>
          </a:prstGeom>
          <a:noFill/>
          <a:ln/>
        </p:spPr>
        <p:txBody>
          <a:bodyPr wrap="none" lIns="0" tIns="0" rIns="0" bIns="0" rtlCol="0" anchor="t"/>
          <a:lstStyle/>
          <a:p>
            <a:pPr algn="l" indent="0" marL="0">
              <a:lnSpc>
                <a:spcPct val="104000"/>
              </a:lnSpc>
              <a:buNone/>
            </a:pPr>
            <a:r>
              <a:rPr lang="en-US" sz="1500" dirty="0">
                <a:solidFill>
                  <a:srgbClr val="000000"/>
                </a:solidFill>
                <a:latin typeface="Source Serif 4 SemiBold" pitchFamily="34" charset="0"/>
                <a:ea typeface="Source Serif 4 SemiBold" pitchFamily="34" charset="-122"/>
                <a:cs typeface="Source Serif 4 SemiBold" pitchFamily="34" charset="-120"/>
              </a:rPr>
              <a:t>The "Immortal" Terminal: Real-Time Execution Telemetry</a:t>
            </a:r>
            <a:endParaRPr lang="en-US" sz="1500" dirty="0"/>
          </a:p>
        </p:txBody>
      </p:sp>
      <p:sp>
        <p:nvSpPr>
          <p:cNvPr id="5" name="Text 3"/>
          <p:cNvSpPr/>
          <p:nvPr/>
        </p:nvSpPr>
        <p:spPr>
          <a:xfrm>
            <a:off x="523577" y="887983"/>
            <a:ext cx="8096845" cy="212824"/>
          </a:xfrm>
          <a:prstGeom prst="rect">
            <a:avLst/>
          </a:prstGeom>
          <a:noFill/>
          <a:ln/>
        </p:spPr>
        <p:txBody>
          <a:bodyPr wrap="square" lIns="0" tIns="0" rIns="0" bIns="0" rtlCol="0" anchor="t">
            <a:normAutofit/>
          </a:bodyPr>
          <a:lstStyle/>
          <a:p>
            <a:pPr algn="l" indent="0" marL="0">
              <a:lnSpc>
                <a:spcPct val="108000"/>
              </a:lnSpc>
              <a:buNone/>
            </a:pPr>
            <a:r>
              <a:rPr lang="en-US" sz="600" dirty="0">
                <a:solidFill>
                  <a:srgbClr val="272525"/>
                </a:solidFill>
                <a:latin typeface="Source Sans 3" pitchFamily="34" charset="0"/>
                <a:ea typeface="Source Sans 3" pitchFamily="34" charset="-122"/>
                <a:cs typeface="Source Sans 3" pitchFamily="34" charset="-120"/>
              </a:rPr>
              <a:t>Traditional loading spinners are unacceptable in an institutional research context. Socrates AI replaces them with a live-streaming terminal UI that displays real-time backend execution logs — giving users full visibility into the inference pipeline's state. The terminal is "immortal": it never unmounts prematurely, even during rapid ticker switches or cache-hit scenarios.</a:t>
            </a:r>
            <a:endParaRPr lang="en-US" sz="600" dirty="0"/>
          </a:p>
        </p:txBody>
      </p:sp>
      <p:sp>
        <p:nvSpPr>
          <p:cNvPr id="6" name="Shape 4"/>
          <p:cNvSpPr/>
          <p:nvPr/>
        </p:nvSpPr>
        <p:spPr>
          <a:xfrm>
            <a:off x="464641" y="1158329"/>
            <a:ext cx="4066505" cy="3559076"/>
          </a:xfrm>
          <a:prstGeom prst="roundRect">
            <a:avLst>
              <a:gd name="adj" fmla="val 1655"/>
            </a:avLst>
          </a:prstGeom>
          <a:solidFill>
            <a:srgbClr val="BE49DF">
              <a:alpha val="95000"/>
            </a:srgbClr>
          </a:solidFill>
          <a:ln/>
        </p:spPr>
      </p:sp>
      <p:sp>
        <p:nvSpPr>
          <p:cNvPr id="7" name="Text 5"/>
          <p:cNvSpPr/>
          <p:nvPr/>
        </p:nvSpPr>
        <p:spPr>
          <a:xfrm>
            <a:off x="546422" y="1209452"/>
            <a:ext cx="3902943" cy="120328"/>
          </a:xfrm>
          <a:prstGeom prst="rect">
            <a:avLst/>
          </a:prstGeom>
          <a:noFill/>
          <a:ln/>
        </p:spPr>
        <p:txBody>
          <a:bodyPr wrap="none" lIns="0" tIns="0" rIns="0" bIns="0" rtlCol="0" anchor="t"/>
          <a:lstStyle/>
          <a:p>
            <a:pPr algn="l" indent="0" marL="0">
              <a:lnSpc>
                <a:spcPct val="104000"/>
              </a:lnSpc>
              <a:buNone/>
            </a:pPr>
            <a:r>
              <a:rPr lang="en-US" sz="750" dirty="0">
                <a:solidFill>
                  <a:srgbClr val="000000"/>
                </a:solidFill>
                <a:latin typeface="Source Serif 4 SemiBold" pitchFamily="34" charset="0"/>
                <a:ea typeface="Source Serif 4 SemiBold" pitchFamily="34" charset="-122"/>
                <a:cs typeface="Source Serif 4 SemiBold" pitchFamily="34" charset="-120"/>
              </a:rPr>
              <a:t>Optimized React State Management</a:t>
            </a:r>
            <a:endParaRPr lang="en-US" sz="750" dirty="0"/>
          </a:p>
        </p:txBody>
      </p:sp>
      <p:sp>
        <p:nvSpPr>
          <p:cNvPr id="8" name="Text 6"/>
          <p:cNvSpPr/>
          <p:nvPr/>
        </p:nvSpPr>
        <p:spPr>
          <a:xfrm>
            <a:off x="546422" y="1380902"/>
            <a:ext cx="4360143" cy="106412"/>
          </a:xfrm>
          <a:prstGeom prst="rect">
            <a:avLst/>
          </a:prstGeom>
          <a:noFill/>
          <a:ln/>
        </p:spPr>
        <p:txBody>
          <a:bodyPr wrap="none" lIns="0" tIns="0" rIns="0" bIns="0" rtlCol="0" anchor="t"/>
          <a:lstStyle/>
          <a:p>
            <a:pPr algn="l" indent="0" marL="0">
              <a:lnSpc>
                <a:spcPct val="108000"/>
              </a:lnSpc>
              <a:buNone/>
            </a:pPr>
            <a:r>
              <a:rPr lang="en-US" sz="600" dirty="0">
                <a:solidFill>
                  <a:srgbClr val="000000"/>
                </a:solidFill>
                <a:latin typeface="Source Sans 3" pitchFamily="34" charset="0"/>
                <a:ea typeface="Source Sans 3" pitchFamily="34" charset="-122"/>
                <a:cs typeface="Source Sans 3" pitchFamily="34" charset="-120"/>
              </a:rPr>
              <a:t>Log state is managed through functional state updates with strict array capping:</a:t>
            </a:r>
            <a:endParaRPr lang="en-US" sz="600" dirty="0"/>
          </a:p>
        </p:txBody>
      </p:sp>
      <p:sp>
        <p:nvSpPr>
          <p:cNvPr id="9" name="Shape 7"/>
          <p:cNvSpPr/>
          <p:nvPr/>
        </p:nvSpPr>
        <p:spPr>
          <a:xfrm>
            <a:off x="546422" y="1544836"/>
            <a:ext cx="3902943" cy="269974"/>
          </a:xfrm>
          <a:prstGeom prst="roundRect">
            <a:avLst>
              <a:gd name="adj" fmla="val 12729"/>
            </a:avLst>
          </a:prstGeom>
          <a:solidFill>
            <a:srgbClr val="CB56EC"/>
          </a:solidFill>
          <a:ln/>
        </p:spPr>
      </p:sp>
      <p:sp>
        <p:nvSpPr>
          <p:cNvPr id="10" name="Shape 8"/>
          <p:cNvSpPr/>
          <p:nvPr/>
        </p:nvSpPr>
        <p:spPr>
          <a:xfrm>
            <a:off x="542404" y="1544836"/>
            <a:ext cx="3910980" cy="269974"/>
          </a:xfrm>
          <a:prstGeom prst="roundRect">
            <a:avLst>
              <a:gd name="adj" fmla="val 4546"/>
            </a:avLst>
          </a:prstGeom>
          <a:solidFill>
            <a:srgbClr val="CB56EC"/>
          </a:solidFill>
          <a:ln/>
        </p:spPr>
      </p:sp>
      <p:sp>
        <p:nvSpPr>
          <p:cNvPr id="11" name="Text 9"/>
          <p:cNvSpPr/>
          <p:nvPr/>
        </p:nvSpPr>
        <p:spPr>
          <a:xfrm>
            <a:off x="644649" y="1626617"/>
            <a:ext cx="4163690" cy="106412"/>
          </a:xfrm>
          <a:prstGeom prst="rect">
            <a:avLst/>
          </a:prstGeom>
          <a:noFill/>
          <a:ln/>
        </p:spPr>
        <p:txBody>
          <a:bodyPr wrap="none" lIns="0" tIns="0" rIns="0" bIns="0" rtlCol="0" anchor="t"/>
          <a:lstStyle/>
          <a:p>
            <a:pPr algn="l" indent="0" marL="0">
              <a:lnSpc>
                <a:spcPct val="108000"/>
              </a:lnSpc>
              <a:buNone/>
            </a:pPr>
            <a:r>
              <a:rPr lang="en-US" sz="600" dirty="0">
                <a:solidFill>
                  <a:srgbClr val="22863A"/>
                </a:solidFill>
                <a:highlight>
                  <a:srgbClr val="CB56EC"/>
                </a:highlight>
                <a:latin typeface="Consolas" pitchFamily="34" charset="0"/>
                <a:ea typeface="Consolas" pitchFamily="34" charset="-122"/>
                <a:cs typeface="Consolas" pitchFamily="34" charset="-120"/>
              </a:rPr>
              <a:t>setLogs(prev =&gt; [...prev.slice(-(MAX_LOGS - 1)), newLog])</a:t>
            </a:r>
            <a:endParaRPr lang="en-US" sz="600" dirty="0"/>
          </a:p>
        </p:txBody>
      </p:sp>
      <p:sp>
        <p:nvSpPr>
          <p:cNvPr id="12" name="Text 10"/>
          <p:cNvSpPr/>
          <p:nvPr/>
        </p:nvSpPr>
        <p:spPr>
          <a:xfrm>
            <a:off x="546422" y="1872332"/>
            <a:ext cx="3902943" cy="217587"/>
          </a:xfrm>
          <a:prstGeom prst="rect">
            <a:avLst/>
          </a:prstGeom>
          <a:noFill/>
          <a:ln/>
        </p:spPr>
        <p:txBody>
          <a:bodyPr wrap="square" lIns="0" tIns="0" rIns="0" bIns="0" rtlCol="0" anchor="t">
            <a:normAutofit/>
          </a:bodyPr>
          <a:lstStyle/>
          <a:p>
            <a:pPr algn="l" indent="0" marL="0">
              <a:lnSpc>
                <a:spcPct val="108000"/>
              </a:lnSpc>
              <a:buNone/>
            </a:pPr>
            <a:r>
              <a:rPr lang="en-US" sz="600" dirty="0">
                <a:solidFill>
                  <a:srgbClr val="000000"/>
                </a:solidFill>
                <a:highlight>
                  <a:srgbClr val="CB56EC"/>
                </a:highlight>
                <a:latin typeface="Consolas" pitchFamily="34" charset="0"/>
                <a:ea typeface="Consolas" pitchFamily="34" charset="-122"/>
                <a:cs typeface="Consolas" pitchFamily="34" charset="-120"/>
              </a:rPr>
              <a:t>MAX_LOGS = 50</a:t>
            </a:r>
            <a:pPr algn="l" indent="0" marL="0">
              <a:lnSpc>
                <a:spcPct val="108000"/>
              </a:lnSpc>
              <a:buNone/>
            </a:pPr>
            <a:r>
              <a:rPr lang="en-US" sz="600" dirty="0">
                <a:solidFill>
                  <a:srgbClr val="000000"/>
                </a:solidFill>
                <a:latin typeface="Source Sans 3" pitchFamily="34" charset="0"/>
                <a:ea typeface="Source Sans 3" pitchFamily="34" charset="-122"/>
                <a:cs typeface="Source Sans 3" pitchFamily="34" charset="-120"/>
              </a:rPr>
              <a:t> prevents memory bloat and DOM churn during extended sessions. The </a:t>
            </a:r>
            <a:pPr algn="l" indent="0" marL="0">
              <a:lnSpc>
                <a:spcPct val="108000"/>
              </a:lnSpc>
              <a:buNone/>
            </a:pPr>
            <a:r>
              <a:rPr lang="en-US" sz="600" dirty="0">
                <a:solidFill>
                  <a:srgbClr val="000000"/>
                </a:solidFill>
                <a:highlight>
                  <a:srgbClr val="CB56EC"/>
                </a:highlight>
                <a:latin typeface="Consolas" pitchFamily="34" charset="0"/>
                <a:ea typeface="Consolas" pitchFamily="34" charset="-122"/>
                <a:cs typeface="Consolas" pitchFamily="34" charset="-120"/>
              </a:rPr>
              <a:t>.slice()</a:t>
            </a:r>
            <a:pPr algn="l" indent="0" marL="0">
              <a:lnSpc>
                <a:spcPct val="108000"/>
              </a:lnSpc>
              <a:buNone/>
            </a:pPr>
            <a:r>
              <a:rPr lang="en-US" sz="600" dirty="0">
                <a:solidFill>
                  <a:srgbClr val="000000"/>
                </a:solidFill>
                <a:latin typeface="Source Sans 3" pitchFamily="34" charset="0"/>
                <a:ea typeface="Source Sans 3" pitchFamily="34" charset="-122"/>
                <a:cs typeface="Source Sans 3" pitchFamily="34" charset="-120"/>
              </a:rPr>
              <a:t> operation ensures the array never exceeds the cap, and functional updates guarantee no stale closure references.</a:t>
            </a:r>
            <a:endParaRPr lang="en-US" sz="600" dirty="0"/>
          </a:p>
        </p:txBody>
      </p:sp>
      <p:sp>
        <p:nvSpPr>
          <p:cNvPr id="13" name="Text 11"/>
          <p:cNvSpPr/>
          <p:nvPr/>
        </p:nvSpPr>
        <p:spPr>
          <a:xfrm>
            <a:off x="546422" y="2141041"/>
            <a:ext cx="3902943" cy="120328"/>
          </a:xfrm>
          <a:prstGeom prst="rect">
            <a:avLst/>
          </a:prstGeom>
          <a:noFill/>
          <a:ln/>
        </p:spPr>
        <p:txBody>
          <a:bodyPr wrap="none" lIns="0" tIns="0" rIns="0" bIns="0" rtlCol="0" anchor="t"/>
          <a:lstStyle/>
          <a:p>
            <a:pPr algn="l" indent="0" marL="0">
              <a:lnSpc>
                <a:spcPct val="104000"/>
              </a:lnSpc>
              <a:buNone/>
            </a:pPr>
            <a:r>
              <a:rPr lang="en-US" sz="750" dirty="0">
                <a:solidFill>
                  <a:srgbClr val="000000"/>
                </a:solidFill>
                <a:latin typeface="Source Serif 4 SemiBold" pitchFamily="34" charset="0"/>
                <a:ea typeface="Source Serif 4 SemiBold" pitchFamily="34" charset="-122"/>
                <a:cs typeface="Source Serif 4 SemiBold" pitchFamily="34" charset="-120"/>
              </a:rPr>
              <a:t>Race-Condition Immunity</a:t>
            </a:r>
            <a:endParaRPr lang="en-US" sz="750" dirty="0"/>
          </a:p>
        </p:txBody>
      </p:sp>
      <p:sp>
        <p:nvSpPr>
          <p:cNvPr id="14" name="Text 12"/>
          <p:cNvSpPr/>
          <p:nvPr/>
        </p:nvSpPr>
        <p:spPr>
          <a:xfrm>
            <a:off x="546422" y="2312491"/>
            <a:ext cx="3902943" cy="319236"/>
          </a:xfrm>
          <a:prstGeom prst="rect">
            <a:avLst/>
          </a:prstGeom>
          <a:noFill/>
          <a:ln/>
        </p:spPr>
        <p:txBody>
          <a:bodyPr wrap="square" lIns="0" tIns="0" rIns="0" bIns="0" rtlCol="0" anchor="t">
            <a:normAutofit/>
          </a:bodyPr>
          <a:lstStyle/>
          <a:p>
            <a:pPr algn="l" indent="0" marL="0">
              <a:lnSpc>
                <a:spcPct val="108000"/>
              </a:lnSpc>
              <a:buNone/>
            </a:pPr>
            <a:r>
              <a:rPr lang="en-US" sz="600" dirty="0">
                <a:solidFill>
                  <a:srgbClr val="000000"/>
                </a:solidFill>
                <a:latin typeface="Source Sans 3" pitchFamily="34" charset="0"/>
                <a:ea typeface="Source Sans 3" pitchFamily="34" charset="-122"/>
                <a:cs typeface="Source Sans 3" pitchFamily="34" charset="-120"/>
              </a:rPr>
              <a:t>The terminal implements a synchronous log-fetch immediately upon main API resolution. This captures sub-second cache hits that would otherwise be missed if the component unmounted before the log stream completed. The fetch is forced synchronously — not queued — ensuring zero log loss.</a:t>
            </a:r>
            <a:endParaRPr lang="en-US" sz="600" dirty="0"/>
          </a:p>
        </p:txBody>
      </p:sp>
      <p:sp>
        <p:nvSpPr>
          <p:cNvPr id="15" name="Text 13"/>
          <p:cNvSpPr/>
          <p:nvPr/>
        </p:nvSpPr>
        <p:spPr>
          <a:xfrm>
            <a:off x="4676552" y="1209452"/>
            <a:ext cx="3948633" cy="120328"/>
          </a:xfrm>
          <a:prstGeom prst="rect">
            <a:avLst/>
          </a:prstGeom>
          <a:noFill/>
          <a:ln/>
        </p:spPr>
        <p:txBody>
          <a:bodyPr wrap="none" lIns="0" tIns="0" rIns="0" bIns="0" rtlCol="0" anchor="t"/>
          <a:lstStyle/>
          <a:p>
            <a:pPr algn="l" indent="0" marL="0">
              <a:lnSpc>
                <a:spcPct val="104000"/>
              </a:lnSpc>
              <a:buNone/>
            </a:pPr>
            <a:r>
              <a:rPr lang="en-US" sz="750" dirty="0">
                <a:solidFill>
                  <a:srgbClr val="000000"/>
                </a:solidFill>
                <a:latin typeface="Source Serif 4 SemiBold" pitchFamily="34" charset="0"/>
                <a:ea typeface="Source Serif 4 SemiBold" pitchFamily="34" charset="-122"/>
                <a:cs typeface="Source Serif 4 SemiBold" pitchFamily="34" charset="-120"/>
              </a:rPr>
              <a:t>Terminal State Flow</a:t>
            </a:r>
            <a:endParaRPr lang="en-US" sz="750" dirty="0"/>
          </a:p>
        </p:txBody>
      </p:sp>
      <p:sp>
        <p:nvSpPr>
          <p:cNvPr id="16" name="Text 14"/>
          <p:cNvSpPr/>
          <p:nvPr/>
        </p:nvSpPr>
        <p:spPr>
          <a:xfrm>
            <a:off x="4676552" y="1387301"/>
            <a:ext cx="163637" cy="102245"/>
          </a:xfrm>
          <a:prstGeom prst="rect">
            <a:avLst/>
          </a:prstGeom>
          <a:noFill/>
          <a:ln/>
        </p:spPr>
        <p:txBody>
          <a:bodyPr wrap="none" lIns="0" tIns="0" rIns="0" bIns="0" rtlCol="0" anchor="ctr"/>
          <a:lstStyle/>
          <a:p>
            <a:pPr algn="l" indent="0" marL="0">
              <a:lnSpc>
                <a:spcPct val="100000"/>
              </a:lnSpc>
              <a:buNone/>
            </a:pPr>
            <a:r>
              <a:rPr lang="en-US" sz="600" dirty="0">
                <a:solidFill>
                  <a:srgbClr val="272525"/>
                </a:solidFill>
                <a:latin typeface="Source Serif 4 Light" pitchFamily="34" charset="0"/>
                <a:ea typeface="Source Serif 4 Light" pitchFamily="34" charset="-122"/>
                <a:cs typeface="Source Serif 4 Light" pitchFamily="34" charset="-120"/>
              </a:rPr>
              <a:t>01</a:t>
            </a:r>
            <a:endParaRPr lang="en-US" sz="600" dirty="0"/>
          </a:p>
        </p:txBody>
      </p:sp>
      <p:sp>
        <p:nvSpPr>
          <p:cNvPr id="17" name="Shape 15"/>
          <p:cNvSpPr/>
          <p:nvPr/>
        </p:nvSpPr>
        <p:spPr>
          <a:xfrm>
            <a:off x="4676552" y="1516707"/>
            <a:ext cx="3948633" cy="9525"/>
          </a:xfrm>
          <a:prstGeom prst="rect">
            <a:avLst/>
          </a:prstGeom>
          <a:solidFill>
            <a:srgbClr val="BE49DF"/>
          </a:solidFill>
          <a:ln/>
        </p:spPr>
      </p:sp>
      <p:sp>
        <p:nvSpPr>
          <p:cNvPr id="18" name="Text 16"/>
          <p:cNvSpPr/>
          <p:nvPr/>
        </p:nvSpPr>
        <p:spPr>
          <a:xfrm>
            <a:off x="4676552" y="1576611"/>
            <a:ext cx="3948633" cy="120328"/>
          </a:xfrm>
          <a:prstGeom prst="rect">
            <a:avLst/>
          </a:prstGeom>
          <a:noFill/>
          <a:ln/>
        </p:spPr>
        <p:txBody>
          <a:bodyPr wrap="none" lIns="0" tIns="0" rIns="0" bIns="0" rtlCol="0" anchor="t"/>
          <a:lstStyle/>
          <a:p>
            <a:pPr algn="l" indent="0" marL="0">
              <a:lnSpc>
                <a:spcPct val="104000"/>
              </a:lnSpc>
              <a:buNone/>
            </a:pPr>
            <a:r>
              <a:rPr lang="en-US" sz="750" dirty="0">
                <a:solidFill>
                  <a:srgbClr val="272525"/>
                </a:solidFill>
                <a:latin typeface="Source Serif 4 SemiBold" pitchFamily="34" charset="0"/>
                <a:ea typeface="Source Serif 4 SemiBold" pitchFamily="34" charset="-122"/>
                <a:cs typeface="Source Serif 4 SemiBold" pitchFamily="34" charset="-120"/>
              </a:rPr>
              <a:t>User Submits Ticker Query</a:t>
            </a:r>
            <a:endParaRPr lang="en-US" sz="750" dirty="0"/>
          </a:p>
        </p:txBody>
      </p:sp>
      <p:sp>
        <p:nvSpPr>
          <p:cNvPr id="19" name="Text 17"/>
          <p:cNvSpPr/>
          <p:nvPr/>
        </p:nvSpPr>
        <p:spPr>
          <a:xfrm>
            <a:off x="4676552" y="1748061"/>
            <a:ext cx="3948633" cy="212824"/>
          </a:xfrm>
          <a:prstGeom prst="rect">
            <a:avLst/>
          </a:prstGeom>
          <a:noFill/>
          <a:ln/>
        </p:spPr>
        <p:txBody>
          <a:bodyPr wrap="square" lIns="0" tIns="0" rIns="0" bIns="0" rtlCol="0" anchor="t">
            <a:normAutofit/>
          </a:bodyPr>
          <a:lstStyle/>
          <a:p>
            <a:pPr algn="l" indent="0" marL="0">
              <a:lnSpc>
                <a:spcPct val="108000"/>
              </a:lnSpc>
              <a:buNone/>
            </a:pPr>
            <a:r>
              <a:rPr lang="en-US" sz="600" dirty="0">
                <a:solidFill>
                  <a:srgbClr val="272525"/>
                </a:solidFill>
                <a:latin typeface="Source Sans 3" pitchFamily="34" charset="0"/>
                <a:ea typeface="Source Sans 3" pitchFamily="34" charset="-122"/>
                <a:cs typeface="Source Sans 3" pitchFamily="34" charset="-120"/>
              </a:rPr>
              <a:t>Next.js API route initiates async validation. Terminal UI immediately renders "Initializing inference pipeline…" log entry.</a:t>
            </a:r>
            <a:endParaRPr lang="en-US" sz="600" dirty="0"/>
          </a:p>
        </p:txBody>
      </p:sp>
      <p:sp>
        <p:nvSpPr>
          <p:cNvPr id="20" name="Text 18"/>
          <p:cNvSpPr/>
          <p:nvPr/>
        </p:nvSpPr>
        <p:spPr>
          <a:xfrm>
            <a:off x="4676552" y="2073325"/>
            <a:ext cx="163637" cy="102245"/>
          </a:xfrm>
          <a:prstGeom prst="rect">
            <a:avLst/>
          </a:prstGeom>
          <a:noFill/>
          <a:ln/>
        </p:spPr>
        <p:txBody>
          <a:bodyPr wrap="none" lIns="0" tIns="0" rIns="0" bIns="0" rtlCol="0" anchor="ctr"/>
          <a:lstStyle/>
          <a:p>
            <a:pPr algn="l" indent="0" marL="0">
              <a:lnSpc>
                <a:spcPct val="100000"/>
              </a:lnSpc>
              <a:buNone/>
            </a:pPr>
            <a:r>
              <a:rPr lang="en-US" sz="600" dirty="0">
                <a:solidFill>
                  <a:srgbClr val="272525"/>
                </a:solidFill>
                <a:latin typeface="Source Serif 4 Light" pitchFamily="34" charset="0"/>
                <a:ea typeface="Source Serif 4 Light" pitchFamily="34" charset="-122"/>
                <a:cs typeface="Source Serif 4 Light" pitchFamily="34" charset="-120"/>
              </a:rPr>
              <a:t>02</a:t>
            </a:r>
            <a:endParaRPr lang="en-US" sz="600" dirty="0"/>
          </a:p>
        </p:txBody>
      </p:sp>
      <p:sp>
        <p:nvSpPr>
          <p:cNvPr id="21" name="Shape 19"/>
          <p:cNvSpPr/>
          <p:nvPr/>
        </p:nvSpPr>
        <p:spPr>
          <a:xfrm>
            <a:off x="4676552" y="2202731"/>
            <a:ext cx="3948633" cy="9525"/>
          </a:xfrm>
          <a:prstGeom prst="rect">
            <a:avLst/>
          </a:prstGeom>
          <a:solidFill>
            <a:srgbClr val="BE49DF"/>
          </a:solidFill>
          <a:ln/>
        </p:spPr>
      </p:sp>
      <p:sp>
        <p:nvSpPr>
          <p:cNvPr id="22" name="Text 20"/>
          <p:cNvSpPr/>
          <p:nvPr/>
        </p:nvSpPr>
        <p:spPr>
          <a:xfrm>
            <a:off x="4676552" y="2262634"/>
            <a:ext cx="3948633" cy="120328"/>
          </a:xfrm>
          <a:prstGeom prst="rect">
            <a:avLst/>
          </a:prstGeom>
          <a:noFill/>
          <a:ln/>
        </p:spPr>
        <p:txBody>
          <a:bodyPr wrap="none" lIns="0" tIns="0" rIns="0" bIns="0" rtlCol="0" anchor="t"/>
          <a:lstStyle/>
          <a:p>
            <a:pPr algn="l" indent="0" marL="0">
              <a:lnSpc>
                <a:spcPct val="104000"/>
              </a:lnSpc>
              <a:buNone/>
            </a:pPr>
            <a:r>
              <a:rPr lang="en-US" sz="750" dirty="0">
                <a:solidFill>
                  <a:srgbClr val="272525"/>
                </a:solidFill>
                <a:latin typeface="Source Serif 4 SemiBold" pitchFamily="34" charset="0"/>
                <a:ea typeface="Source Serif 4 SemiBold" pitchFamily="34" charset="-122"/>
                <a:cs typeface="Source Serif 4 SemiBold" pitchFamily="34" charset="-120"/>
              </a:rPr>
              <a:t>Cache Barrier Check</a:t>
            </a:r>
            <a:endParaRPr lang="en-US" sz="750" dirty="0"/>
          </a:p>
        </p:txBody>
      </p:sp>
      <p:sp>
        <p:nvSpPr>
          <p:cNvPr id="23" name="Text 21"/>
          <p:cNvSpPr/>
          <p:nvPr/>
        </p:nvSpPr>
        <p:spPr>
          <a:xfrm>
            <a:off x="4676552" y="2434084"/>
            <a:ext cx="3948633" cy="212824"/>
          </a:xfrm>
          <a:prstGeom prst="rect">
            <a:avLst/>
          </a:prstGeom>
          <a:noFill/>
          <a:ln/>
        </p:spPr>
        <p:txBody>
          <a:bodyPr wrap="square" lIns="0" tIns="0" rIns="0" bIns="0" rtlCol="0" anchor="t">
            <a:normAutofit/>
          </a:bodyPr>
          <a:lstStyle/>
          <a:p>
            <a:pPr algn="l" indent="0" marL="0">
              <a:lnSpc>
                <a:spcPct val="108000"/>
              </a:lnSpc>
              <a:buNone/>
            </a:pPr>
            <a:r>
              <a:rPr lang="en-US" sz="600" dirty="0">
                <a:solidFill>
                  <a:srgbClr val="272525"/>
                </a:solidFill>
                <a:latin typeface="Source Sans 3" pitchFamily="34" charset="0"/>
                <a:ea typeface="Source Sans 3" pitchFamily="34" charset="-122"/>
                <a:cs typeface="Source Sans 3" pitchFamily="34" charset="-120"/>
              </a:rPr>
              <a:t>PostgreSQL queried for cached result. If hit: log shows "Cache HIT — bypassing LLM compute" and JSON renders in &lt;500ms.</a:t>
            </a:r>
            <a:endParaRPr lang="en-US" sz="600" dirty="0"/>
          </a:p>
        </p:txBody>
      </p:sp>
      <p:sp>
        <p:nvSpPr>
          <p:cNvPr id="24" name="Text 22"/>
          <p:cNvSpPr/>
          <p:nvPr/>
        </p:nvSpPr>
        <p:spPr>
          <a:xfrm>
            <a:off x="4676552" y="2759348"/>
            <a:ext cx="163637" cy="102245"/>
          </a:xfrm>
          <a:prstGeom prst="rect">
            <a:avLst/>
          </a:prstGeom>
          <a:noFill/>
          <a:ln/>
        </p:spPr>
        <p:txBody>
          <a:bodyPr wrap="none" lIns="0" tIns="0" rIns="0" bIns="0" rtlCol="0" anchor="ctr"/>
          <a:lstStyle/>
          <a:p>
            <a:pPr algn="l" indent="0" marL="0">
              <a:lnSpc>
                <a:spcPct val="100000"/>
              </a:lnSpc>
              <a:buNone/>
            </a:pPr>
            <a:r>
              <a:rPr lang="en-US" sz="600" dirty="0">
                <a:solidFill>
                  <a:srgbClr val="272525"/>
                </a:solidFill>
                <a:latin typeface="Source Serif 4 Light" pitchFamily="34" charset="0"/>
                <a:ea typeface="Source Serif 4 Light" pitchFamily="34" charset="-122"/>
                <a:cs typeface="Source Serif 4 Light" pitchFamily="34" charset="-120"/>
              </a:rPr>
              <a:t>03</a:t>
            </a:r>
            <a:endParaRPr lang="en-US" sz="600" dirty="0"/>
          </a:p>
        </p:txBody>
      </p:sp>
      <p:sp>
        <p:nvSpPr>
          <p:cNvPr id="25" name="Shape 23"/>
          <p:cNvSpPr/>
          <p:nvPr/>
        </p:nvSpPr>
        <p:spPr>
          <a:xfrm>
            <a:off x="4676552" y="2888754"/>
            <a:ext cx="3948633" cy="9525"/>
          </a:xfrm>
          <a:prstGeom prst="rect">
            <a:avLst/>
          </a:prstGeom>
          <a:solidFill>
            <a:srgbClr val="BE49DF"/>
          </a:solidFill>
          <a:ln/>
        </p:spPr>
      </p:sp>
      <p:sp>
        <p:nvSpPr>
          <p:cNvPr id="26" name="Text 24"/>
          <p:cNvSpPr/>
          <p:nvPr/>
        </p:nvSpPr>
        <p:spPr>
          <a:xfrm>
            <a:off x="4676552" y="2948657"/>
            <a:ext cx="3948633" cy="120328"/>
          </a:xfrm>
          <a:prstGeom prst="rect">
            <a:avLst/>
          </a:prstGeom>
          <a:noFill/>
          <a:ln/>
        </p:spPr>
        <p:txBody>
          <a:bodyPr wrap="none" lIns="0" tIns="0" rIns="0" bIns="0" rtlCol="0" anchor="t"/>
          <a:lstStyle/>
          <a:p>
            <a:pPr algn="l" indent="0" marL="0">
              <a:lnSpc>
                <a:spcPct val="104000"/>
              </a:lnSpc>
              <a:buNone/>
            </a:pPr>
            <a:r>
              <a:rPr lang="en-US" sz="750" dirty="0">
                <a:solidFill>
                  <a:srgbClr val="272525"/>
                </a:solidFill>
                <a:latin typeface="Source Serif 4 SemiBold" pitchFamily="34" charset="0"/>
                <a:ea typeface="Source Serif 4 SemiBold" pitchFamily="34" charset="-122"/>
                <a:cs typeface="Source Serif 4 SemiBold" pitchFamily="34" charset="-120"/>
              </a:rPr>
              <a:t>RAG Vectorization (Cache Miss)</a:t>
            </a:r>
            <a:endParaRPr lang="en-US" sz="750" dirty="0"/>
          </a:p>
        </p:txBody>
      </p:sp>
      <p:sp>
        <p:nvSpPr>
          <p:cNvPr id="27" name="Text 25"/>
          <p:cNvSpPr/>
          <p:nvPr/>
        </p:nvSpPr>
        <p:spPr>
          <a:xfrm>
            <a:off x="4676552" y="3120107"/>
            <a:ext cx="3948633" cy="212824"/>
          </a:xfrm>
          <a:prstGeom prst="rect">
            <a:avLst/>
          </a:prstGeom>
          <a:noFill/>
          <a:ln/>
        </p:spPr>
        <p:txBody>
          <a:bodyPr wrap="square" lIns="0" tIns="0" rIns="0" bIns="0" rtlCol="0" anchor="t">
            <a:normAutofit/>
          </a:bodyPr>
          <a:lstStyle/>
          <a:p>
            <a:pPr algn="l" indent="0" marL="0">
              <a:lnSpc>
                <a:spcPct val="108000"/>
              </a:lnSpc>
              <a:buNone/>
            </a:pPr>
            <a:r>
              <a:rPr lang="en-US" sz="600" dirty="0">
                <a:solidFill>
                  <a:srgbClr val="272525"/>
                </a:solidFill>
                <a:latin typeface="Source Sans 3" pitchFamily="34" charset="0"/>
                <a:ea typeface="Source Sans 3" pitchFamily="34" charset="-122"/>
                <a:cs typeface="Source Sans 3" pitchFamily="34" charset="-120"/>
              </a:rPr>
              <a:t>Terminal streams live chunking logs: "Splitting 10-K into 147 chunks…", "Embedding batch 12/15…", "Injecting into pgvector…"</a:t>
            </a:r>
            <a:endParaRPr lang="en-US" sz="600" dirty="0"/>
          </a:p>
        </p:txBody>
      </p:sp>
      <p:sp>
        <p:nvSpPr>
          <p:cNvPr id="28" name="Text 26"/>
          <p:cNvSpPr/>
          <p:nvPr/>
        </p:nvSpPr>
        <p:spPr>
          <a:xfrm>
            <a:off x="4676552" y="3445371"/>
            <a:ext cx="163637" cy="102245"/>
          </a:xfrm>
          <a:prstGeom prst="rect">
            <a:avLst/>
          </a:prstGeom>
          <a:noFill/>
          <a:ln/>
        </p:spPr>
        <p:txBody>
          <a:bodyPr wrap="none" lIns="0" tIns="0" rIns="0" bIns="0" rtlCol="0" anchor="ctr"/>
          <a:lstStyle/>
          <a:p>
            <a:pPr algn="l" indent="0" marL="0">
              <a:lnSpc>
                <a:spcPct val="100000"/>
              </a:lnSpc>
              <a:buNone/>
            </a:pPr>
            <a:r>
              <a:rPr lang="en-US" sz="600" dirty="0">
                <a:solidFill>
                  <a:srgbClr val="272525"/>
                </a:solidFill>
                <a:latin typeface="Source Serif 4 Light" pitchFamily="34" charset="0"/>
                <a:ea typeface="Source Serif 4 Light" pitchFamily="34" charset="-122"/>
                <a:cs typeface="Source Serif 4 Light" pitchFamily="34" charset="-120"/>
              </a:rPr>
              <a:t>04</a:t>
            </a:r>
            <a:endParaRPr lang="en-US" sz="600" dirty="0"/>
          </a:p>
        </p:txBody>
      </p:sp>
      <p:sp>
        <p:nvSpPr>
          <p:cNvPr id="29" name="Shape 27"/>
          <p:cNvSpPr/>
          <p:nvPr/>
        </p:nvSpPr>
        <p:spPr>
          <a:xfrm>
            <a:off x="4676552" y="3574777"/>
            <a:ext cx="3948633" cy="9525"/>
          </a:xfrm>
          <a:prstGeom prst="rect">
            <a:avLst/>
          </a:prstGeom>
          <a:solidFill>
            <a:srgbClr val="BE49DF"/>
          </a:solidFill>
          <a:ln/>
        </p:spPr>
      </p:sp>
      <p:sp>
        <p:nvSpPr>
          <p:cNvPr id="30" name="Text 28"/>
          <p:cNvSpPr/>
          <p:nvPr/>
        </p:nvSpPr>
        <p:spPr>
          <a:xfrm>
            <a:off x="4676552" y="3634680"/>
            <a:ext cx="3948633" cy="120328"/>
          </a:xfrm>
          <a:prstGeom prst="rect">
            <a:avLst/>
          </a:prstGeom>
          <a:noFill/>
          <a:ln/>
        </p:spPr>
        <p:txBody>
          <a:bodyPr wrap="none" lIns="0" tIns="0" rIns="0" bIns="0" rtlCol="0" anchor="t"/>
          <a:lstStyle/>
          <a:p>
            <a:pPr algn="l" indent="0" marL="0">
              <a:lnSpc>
                <a:spcPct val="104000"/>
              </a:lnSpc>
              <a:buNone/>
            </a:pPr>
            <a:r>
              <a:rPr lang="en-US" sz="750" dirty="0">
                <a:solidFill>
                  <a:srgbClr val="272525"/>
                </a:solidFill>
                <a:latin typeface="Source Serif 4 SemiBold" pitchFamily="34" charset="0"/>
                <a:ea typeface="Source Serif 4 SemiBold" pitchFamily="34" charset="-122"/>
                <a:cs typeface="Source Serif 4 SemiBold" pitchFamily="34" charset="-120"/>
              </a:rPr>
              <a:t>LLM Inference &amp; JSON Output</a:t>
            </a:r>
            <a:endParaRPr lang="en-US" sz="750" dirty="0"/>
          </a:p>
        </p:txBody>
      </p:sp>
      <p:sp>
        <p:nvSpPr>
          <p:cNvPr id="31" name="Text 29"/>
          <p:cNvSpPr/>
          <p:nvPr/>
        </p:nvSpPr>
        <p:spPr>
          <a:xfrm>
            <a:off x="4676552" y="3806130"/>
            <a:ext cx="3948633" cy="106412"/>
          </a:xfrm>
          <a:prstGeom prst="rect">
            <a:avLst/>
          </a:prstGeom>
          <a:noFill/>
          <a:ln/>
        </p:spPr>
        <p:txBody>
          <a:bodyPr wrap="none" lIns="0" tIns="0" rIns="0" bIns="0" rtlCol="0" anchor="t"/>
          <a:lstStyle/>
          <a:p>
            <a:pPr algn="l" indent="0" marL="0">
              <a:lnSpc>
                <a:spcPct val="108000"/>
              </a:lnSpc>
              <a:buNone/>
            </a:pPr>
            <a:r>
              <a:rPr lang="en-US" sz="600" dirty="0">
                <a:solidFill>
                  <a:srgbClr val="272525"/>
                </a:solidFill>
                <a:latin typeface="Source Sans 3" pitchFamily="34" charset="0"/>
                <a:ea typeface="Source Sans 3" pitchFamily="34" charset="-122"/>
                <a:cs typeface="Source Sans 3" pitchFamily="34" charset="-120"/>
              </a:rPr>
              <a:t>Groq API call logged with token count and latency. Final JSON validated against Pydantic schema before render.</a:t>
            </a:r>
            <a:endParaRPr lang="en-US" sz="600" dirty="0"/>
          </a:p>
        </p:txBody>
      </p:sp>
      <p:sp>
        <p:nvSpPr>
          <p:cNvPr id="32" name="Text 30"/>
          <p:cNvSpPr/>
          <p:nvPr/>
        </p:nvSpPr>
        <p:spPr>
          <a:xfrm>
            <a:off x="4676552" y="4024982"/>
            <a:ext cx="163637" cy="102245"/>
          </a:xfrm>
          <a:prstGeom prst="rect">
            <a:avLst/>
          </a:prstGeom>
          <a:noFill/>
          <a:ln/>
        </p:spPr>
        <p:txBody>
          <a:bodyPr wrap="none" lIns="0" tIns="0" rIns="0" bIns="0" rtlCol="0" anchor="ctr"/>
          <a:lstStyle/>
          <a:p>
            <a:pPr algn="l" indent="0" marL="0">
              <a:lnSpc>
                <a:spcPct val="100000"/>
              </a:lnSpc>
              <a:buNone/>
            </a:pPr>
            <a:r>
              <a:rPr lang="en-US" sz="600" dirty="0">
                <a:solidFill>
                  <a:srgbClr val="272525"/>
                </a:solidFill>
                <a:latin typeface="Source Serif 4 Light" pitchFamily="34" charset="0"/>
                <a:ea typeface="Source Serif 4 Light" pitchFamily="34" charset="-122"/>
                <a:cs typeface="Source Serif 4 Light" pitchFamily="34" charset="-120"/>
              </a:rPr>
              <a:t>05</a:t>
            </a:r>
            <a:endParaRPr lang="en-US" sz="600" dirty="0"/>
          </a:p>
        </p:txBody>
      </p:sp>
      <p:sp>
        <p:nvSpPr>
          <p:cNvPr id="33" name="Shape 31"/>
          <p:cNvSpPr/>
          <p:nvPr/>
        </p:nvSpPr>
        <p:spPr>
          <a:xfrm>
            <a:off x="4676552" y="4154388"/>
            <a:ext cx="3948633" cy="9525"/>
          </a:xfrm>
          <a:prstGeom prst="rect">
            <a:avLst/>
          </a:prstGeom>
          <a:solidFill>
            <a:srgbClr val="BE49DF"/>
          </a:solidFill>
          <a:ln/>
        </p:spPr>
      </p:sp>
      <p:sp>
        <p:nvSpPr>
          <p:cNvPr id="34" name="Text 32"/>
          <p:cNvSpPr/>
          <p:nvPr/>
        </p:nvSpPr>
        <p:spPr>
          <a:xfrm>
            <a:off x="4676552" y="4214292"/>
            <a:ext cx="3948633" cy="120328"/>
          </a:xfrm>
          <a:prstGeom prst="rect">
            <a:avLst/>
          </a:prstGeom>
          <a:noFill/>
          <a:ln/>
        </p:spPr>
        <p:txBody>
          <a:bodyPr wrap="none" lIns="0" tIns="0" rIns="0" bIns="0" rtlCol="0" anchor="t"/>
          <a:lstStyle/>
          <a:p>
            <a:pPr algn="l" indent="0" marL="0">
              <a:lnSpc>
                <a:spcPct val="104000"/>
              </a:lnSpc>
              <a:buNone/>
            </a:pPr>
            <a:r>
              <a:rPr lang="en-US" sz="750" dirty="0">
                <a:solidFill>
                  <a:srgbClr val="272525"/>
                </a:solidFill>
                <a:latin typeface="Source Serif 4 SemiBold" pitchFamily="34" charset="0"/>
                <a:ea typeface="Source Serif 4 SemiBold" pitchFamily="34" charset="-122"/>
                <a:cs typeface="Source Serif 4 SemiBold" pitchFamily="34" charset="-120"/>
              </a:rPr>
              <a:t>Synchronous Log Capture</a:t>
            </a:r>
            <a:endParaRPr lang="en-US" sz="750" dirty="0"/>
          </a:p>
        </p:txBody>
      </p:sp>
      <p:sp>
        <p:nvSpPr>
          <p:cNvPr id="35" name="Text 33"/>
          <p:cNvSpPr/>
          <p:nvPr/>
        </p:nvSpPr>
        <p:spPr>
          <a:xfrm>
            <a:off x="4676552" y="4385742"/>
            <a:ext cx="3948633" cy="212824"/>
          </a:xfrm>
          <a:prstGeom prst="rect">
            <a:avLst/>
          </a:prstGeom>
          <a:noFill/>
          <a:ln/>
        </p:spPr>
        <p:txBody>
          <a:bodyPr wrap="square" lIns="0" tIns="0" rIns="0" bIns="0" rtlCol="0" anchor="t">
            <a:normAutofit/>
          </a:bodyPr>
          <a:lstStyle/>
          <a:p>
            <a:pPr algn="l" indent="0" marL="0">
              <a:lnSpc>
                <a:spcPct val="108000"/>
              </a:lnSpc>
              <a:buNone/>
            </a:pPr>
            <a:r>
              <a:rPr lang="en-US" sz="600" dirty="0">
                <a:solidFill>
                  <a:srgbClr val="272525"/>
                </a:solidFill>
                <a:latin typeface="Source Sans 3" pitchFamily="34" charset="0"/>
                <a:ea typeface="Source Sans 3" pitchFamily="34" charset="-122"/>
                <a:cs typeface="Source Sans 3" pitchFamily="34" charset="-120"/>
              </a:rPr>
              <a:t>Forced sync log-fetch on API resolution captures any sub-second events before component unmount. Terminal state preserved.</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23577" y="516582"/>
            <a:ext cx="895052" cy="155451"/>
          </a:xfrm>
          <a:prstGeom prst="roundRect">
            <a:avLst>
              <a:gd name="adj" fmla="val 22106"/>
            </a:avLst>
          </a:prstGeom>
          <a:solidFill>
            <a:srgbClr val="F0D4F7"/>
          </a:solidFill>
          <a:ln/>
        </p:spPr>
      </p:sp>
      <p:sp>
        <p:nvSpPr>
          <p:cNvPr id="3" name="Text 1"/>
          <p:cNvSpPr/>
          <p:nvPr/>
        </p:nvSpPr>
        <p:spPr>
          <a:xfrm>
            <a:off x="584895" y="547241"/>
            <a:ext cx="1229618" cy="94134"/>
          </a:xfrm>
          <a:prstGeom prst="rect">
            <a:avLst/>
          </a:prstGeom>
          <a:noFill/>
          <a:ln/>
        </p:spPr>
        <p:txBody>
          <a:bodyPr wrap="none" lIns="0" tIns="0" rIns="0" bIns="0" rtlCol="0" anchor="t"/>
          <a:lstStyle/>
          <a:p>
            <a:pPr algn="l" indent="0" marL="0">
              <a:lnSpc>
                <a:spcPct val="96000"/>
              </a:lnSpc>
              <a:buNone/>
            </a:pPr>
            <a:r>
              <a:rPr lang="en-US" sz="600" dirty="0">
                <a:solidFill>
                  <a:srgbClr val="272525"/>
                </a:solidFill>
                <a:latin typeface="Source Sans 3" pitchFamily="34" charset="0"/>
                <a:ea typeface="Source Sans 3" pitchFamily="34" charset="-122"/>
                <a:cs typeface="Source Sans 3" pitchFamily="34" charset="-120"/>
              </a:rPr>
              <a:t>FRONTEND · ASYNC UX</a:t>
            </a:r>
            <a:endParaRPr lang="en-US" sz="600" dirty="0"/>
          </a:p>
        </p:txBody>
      </p:sp>
      <p:sp>
        <p:nvSpPr>
          <p:cNvPr id="4" name="Text 2"/>
          <p:cNvSpPr/>
          <p:nvPr/>
        </p:nvSpPr>
        <p:spPr>
          <a:xfrm>
            <a:off x="523577" y="703957"/>
            <a:ext cx="8096845" cy="300782"/>
          </a:xfrm>
          <a:prstGeom prst="rect">
            <a:avLst/>
          </a:prstGeom>
          <a:noFill/>
          <a:ln/>
        </p:spPr>
        <p:txBody>
          <a:bodyPr wrap="none" lIns="0" tIns="0" rIns="0" bIns="0" rtlCol="0" anchor="t"/>
          <a:lstStyle/>
          <a:p>
            <a:pPr algn="l" indent="0" marL="0">
              <a:lnSpc>
                <a:spcPct val="104000"/>
              </a:lnSpc>
              <a:buNone/>
            </a:pPr>
            <a:r>
              <a:rPr lang="en-US" sz="1850" dirty="0">
                <a:solidFill>
                  <a:srgbClr val="000000"/>
                </a:solidFill>
                <a:latin typeface="Source Serif 4 SemiBold" pitchFamily="34" charset="0"/>
                <a:ea typeface="Source Serif 4 SemiBold" pitchFamily="34" charset="-122"/>
                <a:cs typeface="Source Serif 4 SemiBold" pitchFamily="34" charset="-120"/>
              </a:rPr>
              <a:t>Seamless UX During Heavy Computation</a:t>
            </a:r>
            <a:endParaRPr lang="en-US" sz="1850" dirty="0"/>
          </a:p>
        </p:txBody>
      </p:sp>
      <p:sp>
        <p:nvSpPr>
          <p:cNvPr id="5" name="Text 3"/>
          <p:cNvSpPr/>
          <p:nvPr/>
        </p:nvSpPr>
        <p:spPr>
          <a:xfrm>
            <a:off x="523577" y="1124545"/>
            <a:ext cx="8096845" cy="29125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The most challenging frontend engineering problem in Socrates AI is maintaining a responsive, information-rich UI while the backend performs computationally intensive RAG vectorization. The solution is a layered async architecture that intelligently intercepts in-progress states, decouples heavy integrations, and ensures zero UI freezing during peak inference loads.</a:t>
            </a:r>
            <a:endParaRPr lang="en-US" sz="800" dirty="0"/>
          </a:p>
        </p:txBody>
      </p:sp>
      <p:sp>
        <p:nvSpPr>
          <p:cNvPr id="6" name="Text 4"/>
          <p:cNvSpPr/>
          <p:nvPr/>
        </p:nvSpPr>
        <p:spPr>
          <a:xfrm>
            <a:off x="523577" y="1585466"/>
            <a:ext cx="3923705" cy="1503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Source Serif 4 SemiBold" pitchFamily="34" charset="0"/>
                <a:ea typeface="Source Serif 4 SemiBold" pitchFamily="34" charset="-122"/>
                <a:cs typeface="Source Serif 4 SemiBold" pitchFamily="34" charset="-120"/>
              </a:rPr>
              <a:t>Intelligent HTTP 400 Intercepts</a:t>
            </a:r>
            <a:endParaRPr lang="en-US" sz="900" dirty="0"/>
          </a:p>
        </p:txBody>
      </p:sp>
      <p:sp>
        <p:nvSpPr>
          <p:cNvPr id="7" name="Text 5"/>
          <p:cNvSpPr/>
          <p:nvPr/>
        </p:nvSpPr>
        <p:spPr>
          <a:xfrm>
            <a:off x="523577" y="1815703"/>
            <a:ext cx="3923705" cy="73766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When a user queries a ticker whose SEC filing is still being vectorized, the backend returns a structured HTTP 400 with a </a:t>
            </a:r>
            <a:pPr algn="l" indent="0" marL="0">
              <a:lnSpc>
                <a:spcPct val="1190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vectorization_in_progress</a:t>
            </a:r>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 error code. The frontend intercepts this response, cleanly detaches the main inference request from the UI thread, and switches the terminal to "streaming mode" — displaying live chunking and embedding logs in real-time while the user continues to interact with the rest of the dashboard.</a:t>
            </a:r>
            <a:endParaRPr lang="en-US" sz="8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2643187"/>
            <a:ext cx="1921892" cy="1346597"/>
          </a:xfrm>
          <a:prstGeom prst="rect">
            <a:avLst/>
          </a:prstGeom>
        </p:spPr>
      </p:pic>
      <p:sp>
        <p:nvSpPr>
          <p:cNvPr id="9" name="Text 6"/>
          <p:cNvSpPr/>
          <p:nvPr/>
        </p:nvSpPr>
        <p:spPr>
          <a:xfrm>
            <a:off x="697260" y="2759720"/>
            <a:ext cx="1631677" cy="150391"/>
          </a:xfrm>
          <a:prstGeom prst="rect">
            <a:avLst/>
          </a:prstGeom>
          <a:noFill/>
          <a:ln/>
        </p:spPr>
        <p:txBody>
          <a:bodyPr wrap="none" lIns="0" tIns="0" rIns="0" bIns="0" rtlCol="0" anchor="t"/>
          <a:lstStyle/>
          <a:p>
            <a:pPr algn="l" indent="0" marL="0">
              <a:lnSpc>
                <a:spcPct val="104000"/>
              </a:lnSpc>
              <a:buNone/>
            </a:pPr>
            <a:r>
              <a:rPr lang="en-US" sz="900" dirty="0">
                <a:solidFill>
                  <a:srgbClr val="272525"/>
                </a:solidFill>
                <a:latin typeface="Source Serif 4 SemiBold" pitchFamily="34" charset="0"/>
                <a:ea typeface="Source Serif 4 SemiBold" pitchFamily="34" charset="-122"/>
                <a:cs typeface="Source Serif 4 SemiBold" pitchFamily="34" charset="-120"/>
              </a:rPr>
              <a:t>Detached Request Pattern</a:t>
            </a:r>
            <a:endParaRPr lang="en-US" sz="900" dirty="0"/>
          </a:p>
        </p:txBody>
      </p:sp>
      <p:sp>
        <p:nvSpPr>
          <p:cNvPr id="10" name="Text 7"/>
          <p:cNvSpPr/>
          <p:nvPr/>
        </p:nvSpPr>
        <p:spPr>
          <a:xfrm>
            <a:off x="697260" y="2989957"/>
            <a:ext cx="1631677" cy="883295"/>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The main inference request is decoupled from the UI render cycle. A separate </a:t>
            </a:r>
            <a:pPr algn="l" indent="0" marL="0">
              <a:lnSpc>
                <a:spcPct val="1190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useEffect</a:t>
            </a:r>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 hook polls the vectorization status endpoint every 2 seconds without blocking the main thread.</a:t>
            </a:r>
            <a:endParaRPr lang="en-US" sz="8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25316" y="2643187"/>
            <a:ext cx="1921966" cy="1346597"/>
          </a:xfrm>
          <a:prstGeom prst="rect">
            <a:avLst/>
          </a:prstGeom>
        </p:spPr>
      </p:pic>
      <p:sp>
        <p:nvSpPr>
          <p:cNvPr id="12" name="Text 8"/>
          <p:cNvSpPr/>
          <p:nvPr/>
        </p:nvSpPr>
        <p:spPr>
          <a:xfrm>
            <a:off x="2698998" y="2759720"/>
            <a:ext cx="1631752" cy="150391"/>
          </a:xfrm>
          <a:prstGeom prst="rect">
            <a:avLst/>
          </a:prstGeom>
          <a:noFill/>
          <a:ln/>
        </p:spPr>
        <p:txBody>
          <a:bodyPr wrap="none" lIns="0" tIns="0" rIns="0" bIns="0" rtlCol="0" anchor="t"/>
          <a:lstStyle/>
          <a:p>
            <a:pPr algn="l" indent="0" marL="0">
              <a:lnSpc>
                <a:spcPct val="104000"/>
              </a:lnSpc>
              <a:buNone/>
            </a:pPr>
            <a:r>
              <a:rPr lang="en-US" sz="900" dirty="0">
                <a:solidFill>
                  <a:srgbClr val="272525"/>
                </a:solidFill>
                <a:latin typeface="Source Serif 4 SemiBold" pitchFamily="34" charset="0"/>
                <a:ea typeface="Source Serif 4 SemiBold" pitchFamily="34" charset="-122"/>
                <a:cs typeface="Source Serif 4 SemiBold" pitchFamily="34" charset="-120"/>
              </a:rPr>
              <a:t>Recursive Log Streaming</a:t>
            </a:r>
            <a:endParaRPr lang="en-US" sz="900" dirty="0"/>
          </a:p>
        </p:txBody>
      </p:sp>
      <p:sp>
        <p:nvSpPr>
          <p:cNvPr id="13" name="Text 9"/>
          <p:cNvSpPr/>
          <p:nvPr/>
        </p:nvSpPr>
        <p:spPr>
          <a:xfrm>
            <a:off x="2698998" y="2989957"/>
            <a:ext cx="1631752" cy="873770"/>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As each chunk is processed, the backend pushes a log entry via Server-Sent Events (SSE). The terminal UI appends these in real-time, providing full transparency into the vectorization pipeline.</a:t>
            </a:r>
            <a:endParaRPr lang="en-US" sz="800" dirty="0"/>
          </a:p>
        </p:txBody>
      </p:sp>
      <p:sp>
        <p:nvSpPr>
          <p:cNvPr id="14" name="Text 10"/>
          <p:cNvSpPr/>
          <p:nvPr/>
        </p:nvSpPr>
        <p:spPr>
          <a:xfrm>
            <a:off x="4701480" y="1585466"/>
            <a:ext cx="3923705" cy="1503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Source Serif 4 SemiBold" pitchFamily="34" charset="0"/>
                <a:ea typeface="Source Serif 4 SemiBold" pitchFamily="34" charset="-122"/>
                <a:cs typeface="Source Serif 4 SemiBold" pitchFamily="34" charset="-120"/>
              </a:rPr>
              <a:t>Async Third-Party Integrations</a:t>
            </a:r>
            <a:endParaRPr lang="en-US" sz="900" dirty="0"/>
          </a:p>
        </p:txBody>
      </p:sp>
      <p:sp>
        <p:nvSpPr>
          <p:cNvPr id="15" name="Text 11"/>
          <p:cNvSpPr/>
          <p:nvPr/>
        </p:nvSpPr>
        <p:spPr>
          <a:xfrm>
            <a:off x="4701480" y="1815703"/>
            <a:ext cx="3923705" cy="29125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Two critical third-party integrations are architected to never block or unmount during active RAG queries:</a:t>
            </a:r>
            <a:endParaRPr lang="en-US" sz="800" dirty="0"/>
          </a:p>
        </p:txBody>
      </p:sp>
      <p:sp>
        <p:nvSpPr>
          <p:cNvPr id="16" name="Shape 12"/>
          <p:cNvSpPr/>
          <p:nvPr/>
        </p:nvSpPr>
        <p:spPr>
          <a:xfrm>
            <a:off x="4701480" y="2196778"/>
            <a:ext cx="1921892" cy="1473175"/>
          </a:xfrm>
          <a:prstGeom prst="roundRect">
            <a:avLst>
              <a:gd name="adj" fmla="val 2916"/>
            </a:avLst>
          </a:prstGeom>
          <a:solidFill>
            <a:srgbClr val="F0D4F7"/>
          </a:solidFill>
          <a:ln w="4763">
            <a:solidFill>
              <a:srgbClr val="D6BADD"/>
            </a:solidFill>
            <a:prstDash val="solid"/>
          </a:ln>
        </p:spPr>
      </p:sp>
      <p:sp>
        <p:nvSpPr>
          <p:cNvPr id="17" name="Text 13"/>
          <p:cNvSpPr/>
          <p:nvPr/>
        </p:nvSpPr>
        <p:spPr>
          <a:xfrm>
            <a:off x="4808488" y="2303785"/>
            <a:ext cx="1707877" cy="150391"/>
          </a:xfrm>
          <a:prstGeom prst="rect">
            <a:avLst/>
          </a:prstGeom>
          <a:noFill/>
          <a:ln/>
        </p:spPr>
        <p:txBody>
          <a:bodyPr wrap="none" lIns="0" tIns="0" rIns="0" bIns="0" rtlCol="0" anchor="t"/>
          <a:lstStyle/>
          <a:p>
            <a:pPr algn="l" indent="0" marL="0">
              <a:lnSpc>
                <a:spcPct val="104000"/>
              </a:lnSpc>
              <a:buNone/>
            </a:pPr>
            <a:r>
              <a:rPr lang="en-US" sz="900" dirty="0">
                <a:solidFill>
                  <a:srgbClr val="272525"/>
                </a:solidFill>
                <a:latin typeface="Source Serif 4 SemiBold" pitchFamily="34" charset="0"/>
                <a:ea typeface="Source Serif 4 SemiBold" pitchFamily="34" charset="-122"/>
                <a:cs typeface="Source Serif 4 SemiBold" pitchFamily="34" charset="-120"/>
              </a:rPr>
              <a:t>TradingView HTML5 Iframes</a:t>
            </a:r>
            <a:endParaRPr lang="en-US" sz="900" dirty="0"/>
          </a:p>
        </p:txBody>
      </p:sp>
      <p:sp>
        <p:nvSpPr>
          <p:cNvPr id="18" name="Text 14"/>
          <p:cNvSpPr/>
          <p:nvPr/>
        </p:nvSpPr>
        <p:spPr>
          <a:xfrm>
            <a:off x="4808488" y="2534022"/>
            <a:ext cx="1707877" cy="1028923"/>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Embedded TradingView Advanced Chart widgets are loaded in isolated iframe contexts with </a:t>
            </a:r>
            <a:pPr algn="l" indent="0" marL="0">
              <a:lnSpc>
                <a:spcPct val="1190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loading="lazy"</a:t>
            </a:r>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 and persistent ref management. They refuse to unmount during active RAG queries — users can analyze price charts while the backend vectorizes a 300-page 10-K.</a:t>
            </a:r>
            <a:endParaRPr lang="en-US" sz="800" dirty="0"/>
          </a:p>
        </p:txBody>
      </p:sp>
      <p:sp>
        <p:nvSpPr>
          <p:cNvPr id="19" name="Shape 15"/>
          <p:cNvSpPr/>
          <p:nvPr/>
        </p:nvSpPr>
        <p:spPr>
          <a:xfrm>
            <a:off x="6703219" y="2196778"/>
            <a:ext cx="1921966" cy="1473175"/>
          </a:xfrm>
          <a:prstGeom prst="roundRect">
            <a:avLst>
              <a:gd name="adj" fmla="val 2916"/>
            </a:avLst>
          </a:prstGeom>
          <a:solidFill>
            <a:srgbClr val="F0D4F7"/>
          </a:solidFill>
          <a:ln w="4763">
            <a:solidFill>
              <a:srgbClr val="D6BADD"/>
            </a:solidFill>
            <a:prstDash val="solid"/>
          </a:ln>
        </p:spPr>
      </p:sp>
      <p:sp>
        <p:nvSpPr>
          <p:cNvPr id="20" name="Text 16"/>
          <p:cNvSpPr/>
          <p:nvPr/>
        </p:nvSpPr>
        <p:spPr>
          <a:xfrm>
            <a:off x="6810226" y="2303785"/>
            <a:ext cx="1707952" cy="150391"/>
          </a:xfrm>
          <a:prstGeom prst="rect">
            <a:avLst/>
          </a:prstGeom>
          <a:noFill/>
          <a:ln/>
        </p:spPr>
        <p:txBody>
          <a:bodyPr wrap="none" lIns="0" tIns="0" rIns="0" bIns="0" rtlCol="0" anchor="t"/>
          <a:lstStyle/>
          <a:p>
            <a:pPr algn="l" indent="0" marL="0">
              <a:lnSpc>
                <a:spcPct val="104000"/>
              </a:lnSpc>
              <a:buNone/>
            </a:pPr>
            <a:r>
              <a:rPr lang="en-US" sz="900" dirty="0">
                <a:solidFill>
                  <a:srgbClr val="272525"/>
                </a:solidFill>
                <a:latin typeface="Source Serif 4 SemiBold" pitchFamily="34" charset="0"/>
                <a:ea typeface="Source Serif 4 SemiBold" pitchFamily="34" charset="-122"/>
                <a:cs typeface="Source Serif 4 SemiBold" pitchFamily="34" charset="-120"/>
              </a:rPr>
              <a:t>Dynamic US Macro Headers</a:t>
            </a:r>
            <a:endParaRPr lang="en-US" sz="900" dirty="0"/>
          </a:p>
        </p:txBody>
      </p:sp>
      <p:sp>
        <p:nvSpPr>
          <p:cNvPr id="21" name="Text 17"/>
          <p:cNvSpPr/>
          <p:nvPr/>
        </p:nvSpPr>
        <p:spPr>
          <a:xfrm>
            <a:off x="6810226" y="2534022"/>
            <a:ext cx="1707952" cy="1019398"/>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272525"/>
                </a:solidFill>
                <a:latin typeface="Source Sans 3" pitchFamily="34" charset="0"/>
                <a:ea typeface="Source Sans 3" pitchFamily="34" charset="-122"/>
                <a:cs typeface="Source Sans 3" pitchFamily="34" charset="-120"/>
              </a:rPr>
              <a:t>Live CPI, GDP, and Treasury yield widgets load independently via separate async data fetching. They are decoupled from the main ticker inference pipeline, ensuring macro context is always available regardless of RAG pipeline state.</a:t>
            </a:r>
            <a:endParaRPr lang="en-US" sz="800" dirty="0"/>
          </a:p>
        </p:txBody>
      </p:sp>
      <p:sp>
        <p:nvSpPr>
          <p:cNvPr id="22" name="Shape 18"/>
          <p:cNvSpPr/>
          <p:nvPr/>
        </p:nvSpPr>
        <p:spPr>
          <a:xfrm>
            <a:off x="4701480" y="3759771"/>
            <a:ext cx="3923705" cy="777329"/>
          </a:xfrm>
          <a:prstGeom prst="roundRect">
            <a:avLst>
              <a:gd name="adj" fmla="val 5526"/>
            </a:avLst>
          </a:prstGeom>
          <a:solidFill>
            <a:srgbClr val="B6D6FC"/>
          </a:solidFill>
          <a:ln/>
        </p:spPr>
      </p:sp>
      <p:pic>
        <p:nvPicPr>
          <p:cNvPr id="23" name="Image 2" descr="preencoded.png">    </p:cNvPr>
          <p:cNvPicPr>
            <a:picLocks noChangeAspect="1"/>
          </p:cNvPicPr>
          <p:nvPr/>
        </p:nvPicPr>
        <p:blipFill>
          <a:blip r:embed="rId5"/>
          <a:stretch>
            <a:fillRect/>
          </a:stretch>
        </p:blipFill>
        <p:spPr>
          <a:xfrm>
            <a:off x="4803725" y="3898032"/>
            <a:ext cx="127769" cy="102245"/>
          </a:xfrm>
          <a:prstGeom prst="rect">
            <a:avLst/>
          </a:prstGeom>
        </p:spPr>
      </p:pic>
      <p:sp>
        <p:nvSpPr>
          <p:cNvPr id="24" name="Text 19"/>
          <p:cNvSpPr/>
          <p:nvPr/>
        </p:nvSpPr>
        <p:spPr>
          <a:xfrm>
            <a:off x="5033739" y="3857179"/>
            <a:ext cx="3489201" cy="582513"/>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000000"/>
                </a:solidFill>
                <a:latin typeface="Source Sans 3" pitchFamily="34" charset="0"/>
                <a:ea typeface="Source Sans 3" pitchFamily="34" charset="-122"/>
                <a:cs typeface="Source Sans 3" pitchFamily="34" charset="-120"/>
              </a:rPr>
              <a:t>The dual-dashboard architecture — trading charts on the left, live terminal on the right — was specifically designed to mirror the workflow of a quantitative analyst who needs to correlate fundamental research with real-time price action simultaneously.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23577" y="404515"/>
            <a:ext cx="730821" cy="105668"/>
          </a:xfrm>
          <a:prstGeom prst="roundRect">
            <a:avLst>
              <a:gd name="adj" fmla="val 22114"/>
            </a:avLst>
          </a:prstGeom>
          <a:solidFill>
            <a:srgbClr val="F0D4F7"/>
          </a:solidFill>
          <a:ln/>
        </p:spPr>
      </p:sp>
      <p:sp>
        <p:nvSpPr>
          <p:cNvPr id="3" name="Text 1"/>
          <p:cNvSpPr/>
          <p:nvPr/>
        </p:nvSpPr>
        <p:spPr>
          <a:xfrm>
            <a:off x="565249" y="425351"/>
            <a:ext cx="1104677" cy="63996"/>
          </a:xfrm>
          <a:prstGeom prst="rect">
            <a:avLst/>
          </a:prstGeom>
          <a:noFill/>
          <a:ln/>
        </p:spPr>
        <p:txBody>
          <a:bodyPr wrap="none" lIns="0" tIns="0" rIns="0" bIns="0" rtlCol="0" anchor="t"/>
          <a:lstStyle/>
          <a:p>
            <a:pPr algn="l" indent="0" marL="0">
              <a:lnSpc>
                <a:spcPct val="96000"/>
              </a:lnSpc>
              <a:buNone/>
            </a:pPr>
            <a:r>
              <a:rPr lang="en-US" sz="400" dirty="0">
                <a:solidFill>
                  <a:srgbClr val="272525"/>
                </a:solidFill>
                <a:latin typeface="Source Sans 3" pitchFamily="34" charset="0"/>
                <a:ea typeface="Source Sans 3" pitchFamily="34" charset="-122"/>
                <a:cs typeface="Source Sans 3" pitchFamily="34" charset="-120"/>
              </a:rPr>
              <a:t>PRODUCTION DEPLOYMENT</a:t>
            </a:r>
            <a:endParaRPr lang="en-US" sz="400" dirty="0"/>
          </a:p>
        </p:txBody>
      </p:sp>
      <p:sp>
        <p:nvSpPr>
          <p:cNvPr id="4" name="Text 2"/>
          <p:cNvSpPr/>
          <p:nvPr/>
        </p:nvSpPr>
        <p:spPr>
          <a:xfrm>
            <a:off x="523577" y="524917"/>
            <a:ext cx="8096845" cy="20449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Source Serif 4 SemiBold" pitchFamily="34" charset="0"/>
                <a:ea typeface="Source Serif 4 SemiBold" pitchFamily="34" charset="-122"/>
                <a:cs typeface="Source Serif 4 SemiBold" pitchFamily="34" charset="-120"/>
              </a:rPr>
              <a:t>Engineered for Enterprise Scale: Tech Stack &amp; Deployment Architecture</a:t>
            </a:r>
            <a:endParaRPr lang="en-US" sz="1250" dirty="0"/>
          </a:p>
        </p:txBody>
      </p:sp>
      <p:sp>
        <p:nvSpPr>
          <p:cNvPr id="5" name="Text 3"/>
          <p:cNvSpPr/>
          <p:nvPr/>
        </p:nvSpPr>
        <p:spPr>
          <a:xfrm>
            <a:off x="523577" y="784771"/>
            <a:ext cx="8096845" cy="170408"/>
          </a:xfrm>
          <a:prstGeom prst="rect">
            <a:avLst/>
          </a:prstGeom>
          <a:noFill/>
          <a:ln/>
        </p:spPr>
        <p:txBody>
          <a:bodyPr wrap="square" lIns="0" tIns="0" rIns="0" bIns="0" rtlCol="0" anchor="t">
            <a:normAutofit/>
          </a:bodyPr>
          <a:lstStyle/>
          <a:p>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Socrates AI's technology stack was selected based on three criteria: production maturity at scale, async-native architecture, and institutional-grade reliability. Every component has been validated in high-throughput environments. The deployment architecture is fully stateless, enabling horizontal scaling via Docker containers on any cloud provider.</a:t>
            </a:r>
            <a:endParaRPr lang="en-US" sz="500" dirty="0"/>
          </a:p>
        </p:txBody>
      </p:sp>
      <p:pic>
        <p:nvPicPr>
          <p:cNvPr id="6" name="Image 0" descr="preencoded.png">    </p:cNvPr>
          <p:cNvPicPr>
            <a:picLocks noChangeAspect="1"/>
          </p:cNvPicPr>
          <p:nvPr/>
        </p:nvPicPr>
        <p:blipFill>
          <a:blip r:embed="rId1"/>
          <a:stretch>
            <a:fillRect/>
          </a:stretch>
        </p:blipFill>
        <p:spPr>
          <a:xfrm>
            <a:off x="523577" y="996702"/>
            <a:ext cx="875407" cy="540990"/>
          </a:xfrm>
          <a:prstGeom prst="rect">
            <a:avLst/>
          </a:prstGeom>
        </p:spPr>
      </p:pic>
      <p:sp>
        <p:nvSpPr>
          <p:cNvPr id="7" name="Text 4"/>
          <p:cNvSpPr/>
          <p:nvPr/>
        </p:nvSpPr>
        <p:spPr>
          <a:xfrm>
            <a:off x="523577" y="1583829"/>
            <a:ext cx="1989609" cy="102319"/>
          </a:xfrm>
          <a:prstGeom prst="rect">
            <a:avLst/>
          </a:prstGeom>
          <a:noFill/>
          <a:ln/>
        </p:spPr>
        <p:txBody>
          <a:bodyPr wrap="none" lIns="0" tIns="0" rIns="0" bIns="0" rtlCol="0" anchor="t"/>
          <a:lstStyle/>
          <a:p>
            <a:pPr algn="l"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Backend Stack</a:t>
            </a:r>
            <a:endParaRPr lang="en-US" sz="600" dirty="0"/>
          </a:p>
        </p:txBody>
      </p:sp>
      <p:sp>
        <p:nvSpPr>
          <p:cNvPr id="8" name="Text 5"/>
          <p:cNvSpPr/>
          <p:nvPr/>
        </p:nvSpPr>
        <p:spPr>
          <a:xfrm>
            <a:off x="523577" y="1708249"/>
            <a:ext cx="1989609" cy="255612"/>
          </a:xfrm>
          <a:prstGeom prst="rect">
            <a:avLst/>
          </a:prstGeom>
          <a:noFill/>
          <a:ln/>
        </p:spPr>
        <p:txBody>
          <a:bodyPr wrap="square" lIns="0" tIns="0" rIns="0" bIns="0" rtlCol="0" anchor="t">
            <a:normAutofit/>
          </a:bodyPr>
          <a:lstStyle/>
          <a:p>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Python 3.10+</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FastAPI 0.111.0</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(async-native, OpenAPI auto-docs)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Uvicorn</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(ASGI server)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Pydantic v2</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(strict JSON schema validation). Every endpoint is type-annotated and validated at runtime.</a:t>
            </a:r>
            <a:endParaRPr lang="en-US" sz="500" dirty="0"/>
          </a:p>
        </p:txBody>
      </p:sp>
      <p:pic>
        <p:nvPicPr>
          <p:cNvPr id="9" name="Image 1" descr="preencoded.png">    </p:cNvPr>
          <p:cNvPicPr>
            <a:picLocks noChangeAspect="1"/>
          </p:cNvPicPr>
          <p:nvPr/>
        </p:nvPicPr>
        <p:blipFill>
          <a:blip r:embed="rId2"/>
          <a:stretch>
            <a:fillRect/>
          </a:stretch>
        </p:blipFill>
        <p:spPr>
          <a:xfrm>
            <a:off x="2559323" y="996702"/>
            <a:ext cx="875407" cy="540990"/>
          </a:xfrm>
          <a:prstGeom prst="rect">
            <a:avLst/>
          </a:prstGeom>
        </p:spPr>
      </p:pic>
      <p:sp>
        <p:nvSpPr>
          <p:cNvPr id="10" name="Text 6"/>
          <p:cNvSpPr/>
          <p:nvPr/>
        </p:nvSpPr>
        <p:spPr>
          <a:xfrm>
            <a:off x="2559323" y="1583829"/>
            <a:ext cx="1989609" cy="102319"/>
          </a:xfrm>
          <a:prstGeom prst="rect">
            <a:avLst/>
          </a:prstGeom>
          <a:noFill/>
          <a:ln/>
        </p:spPr>
        <p:txBody>
          <a:bodyPr wrap="none" lIns="0" tIns="0" rIns="0" bIns="0" rtlCol="0" anchor="t"/>
          <a:lstStyle/>
          <a:p>
            <a:pPr algn="l"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Database Layer</a:t>
            </a:r>
            <a:endParaRPr lang="en-US" sz="600" dirty="0"/>
          </a:p>
        </p:txBody>
      </p:sp>
      <p:sp>
        <p:nvSpPr>
          <p:cNvPr id="11" name="Text 7"/>
          <p:cNvSpPr/>
          <p:nvPr/>
        </p:nvSpPr>
        <p:spPr>
          <a:xfrm>
            <a:off x="2559323" y="1708249"/>
            <a:ext cx="1989609" cy="340816"/>
          </a:xfrm>
          <a:prstGeom prst="rect">
            <a:avLst/>
          </a:prstGeom>
          <a:noFill/>
          <a:ln/>
        </p:spPr>
        <p:txBody>
          <a:bodyPr wrap="square" lIns="0" tIns="0" rIns="0" bIns="0" rtlCol="0" anchor="t">
            <a:normAutofit/>
          </a:bodyPr>
          <a:lstStyle/>
          <a:p>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Supabase</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(managed PostgreSQL)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pgvector</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extension (HNSW index for cosine similarity search) · Row-level security policies · Automated daily backups. Vector similarity queries execute in under 10ms at 1M+ embeddings.</a:t>
            </a:r>
            <a:endParaRPr lang="en-US" sz="500" dirty="0"/>
          </a:p>
        </p:txBody>
      </p:sp>
      <p:pic>
        <p:nvPicPr>
          <p:cNvPr id="12" name="Image 2" descr="preencoded.png">    </p:cNvPr>
          <p:cNvPicPr>
            <a:picLocks noChangeAspect="1"/>
          </p:cNvPicPr>
          <p:nvPr/>
        </p:nvPicPr>
        <p:blipFill>
          <a:blip r:embed="rId3"/>
          <a:stretch>
            <a:fillRect/>
          </a:stretch>
        </p:blipFill>
        <p:spPr>
          <a:xfrm>
            <a:off x="4595068" y="996702"/>
            <a:ext cx="875407" cy="540990"/>
          </a:xfrm>
          <a:prstGeom prst="rect">
            <a:avLst/>
          </a:prstGeom>
        </p:spPr>
      </p:pic>
      <p:sp>
        <p:nvSpPr>
          <p:cNvPr id="13" name="Text 8"/>
          <p:cNvSpPr/>
          <p:nvPr/>
        </p:nvSpPr>
        <p:spPr>
          <a:xfrm>
            <a:off x="4595068" y="1583829"/>
            <a:ext cx="1989609" cy="102319"/>
          </a:xfrm>
          <a:prstGeom prst="rect">
            <a:avLst/>
          </a:prstGeom>
          <a:noFill/>
          <a:ln/>
        </p:spPr>
        <p:txBody>
          <a:bodyPr wrap="none" lIns="0" tIns="0" rIns="0" bIns="0" rtlCol="0" anchor="t"/>
          <a:lstStyle/>
          <a:p>
            <a:pPr algn="l"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AI Inference Layer</a:t>
            </a:r>
            <a:endParaRPr lang="en-US" sz="600" dirty="0"/>
          </a:p>
        </p:txBody>
      </p:sp>
      <p:sp>
        <p:nvSpPr>
          <p:cNvPr id="14" name="Text 9"/>
          <p:cNvSpPr/>
          <p:nvPr/>
        </p:nvSpPr>
        <p:spPr>
          <a:xfrm>
            <a:off x="4595068" y="1708249"/>
            <a:ext cx="1989609" cy="255612"/>
          </a:xfrm>
          <a:prstGeom prst="rect">
            <a:avLst/>
          </a:prstGeom>
          <a:noFill/>
          <a:ln/>
        </p:spPr>
        <p:txBody>
          <a:bodyPr wrap="square" lIns="0" tIns="0" rIns="0" bIns="0" rtlCol="0" anchor="t">
            <a:normAutofit/>
          </a:bodyPr>
          <a:lstStyle/>
          <a:p>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Groq API</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(Llama-3.3-70B at 500+ tokens/sec)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Cohere</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(embed-english-v3.0, 1024-dim vectors)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LangChain</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(orchestration, splitters, retrievers). Groq's LPU architecture eliminates GPU queue latency.</a:t>
            </a:r>
            <a:endParaRPr lang="en-US" sz="500" dirty="0"/>
          </a:p>
        </p:txBody>
      </p:sp>
      <p:pic>
        <p:nvPicPr>
          <p:cNvPr id="15" name="Image 3" descr="preencoded.png">    </p:cNvPr>
          <p:cNvPicPr>
            <a:picLocks noChangeAspect="1"/>
          </p:cNvPicPr>
          <p:nvPr/>
        </p:nvPicPr>
        <p:blipFill>
          <a:blip r:embed="rId4"/>
          <a:stretch>
            <a:fillRect/>
          </a:stretch>
        </p:blipFill>
        <p:spPr>
          <a:xfrm>
            <a:off x="6630814" y="996702"/>
            <a:ext cx="875407" cy="540990"/>
          </a:xfrm>
          <a:prstGeom prst="rect">
            <a:avLst/>
          </a:prstGeom>
        </p:spPr>
      </p:pic>
      <p:sp>
        <p:nvSpPr>
          <p:cNvPr id="16" name="Text 10"/>
          <p:cNvSpPr/>
          <p:nvPr/>
        </p:nvSpPr>
        <p:spPr>
          <a:xfrm>
            <a:off x="6630814" y="1583829"/>
            <a:ext cx="1989609" cy="102319"/>
          </a:xfrm>
          <a:prstGeom prst="rect">
            <a:avLst/>
          </a:prstGeom>
          <a:noFill/>
          <a:ln/>
        </p:spPr>
        <p:txBody>
          <a:bodyPr wrap="none" lIns="0" tIns="0" rIns="0" bIns="0" rtlCol="0" anchor="t"/>
          <a:lstStyle/>
          <a:p>
            <a:pPr algn="l"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Frontend Stack</a:t>
            </a:r>
            <a:endParaRPr lang="en-US" sz="600" dirty="0"/>
          </a:p>
        </p:txBody>
      </p:sp>
      <p:sp>
        <p:nvSpPr>
          <p:cNvPr id="17" name="Text 11"/>
          <p:cNvSpPr/>
          <p:nvPr/>
        </p:nvSpPr>
        <p:spPr>
          <a:xfrm>
            <a:off x="6630814" y="1708249"/>
            <a:ext cx="1989609" cy="255612"/>
          </a:xfrm>
          <a:prstGeom prst="rect">
            <a:avLst/>
          </a:prstGeom>
          <a:noFill/>
          <a:ln/>
        </p:spPr>
        <p:txBody>
          <a:bodyPr wrap="square" lIns="0" tIns="0" rIns="0" bIns="0" rtlCol="0" anchor="t">
            <a:normAutofit/>
          </a:bodyPr>
          <a:lstStyle/>
          <a:p>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Next.js 14</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(App Router, RSC)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React 18</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(concurrent features)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Tailwind CSS</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(atomic utility classes) · </a:t>
            </a:r>
            <a:pPr algn="l" indent="0" marL="0">
              <a:lnSpc>
                <a:spcPct val="102000"/>
              </a:lnSpc>
              <a:buNone/>
            </a:pPr>
            <a:r>
              <a:rPr lang="en-US" sz="500" b="1" dirty="0">
                <a:solidFill>
                  <a:srgbClr val="272525"/>
                </a:solidFill>
                <a:latin typeface="Source Sans 3 Bold" pitchFamily="34" charset="0"/>
                <a:ea typeface="Source Sans 3 Bold" pitchFamily="34" charset="-122"/>
                <a:cs typeface="Source Sans 3 Bold" pitchFamily="34" charset="-120"/>
              </a:rPr>
              <a:t>TypeScript</a:t>
            </a:r>
            <a:pPr algn="l"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 (strict mode). Deployed on Vercel Edge Network with sub-50ms global latency.</a:t>
            </a:r>
            <a:endParaRPr lang="en-US" sz="500" dirty="0"/>
          </a:p>
        </p:txBody>
      </p:sp>
      <p:sp>
        <p:nvSpPr>
          <p:cNvPr id="18" name="Shape 12"/>
          <p:cNvSpPr/>
          <p:nvPr/>
        </p:nvSpPr>
        <p:spPr>
          <a:xfrm>
            <a:off x="473497" y="2090589"/>
            <a:ext cx="4063752" cy="2648396"/>
          </a:xfrm>
          <a:prstGeom prst="roundRect">
            <a:avLst>
              <a:gd name="adj" fmla="val 1891"/>
            </a:avLst>
          </a:prstGeom>
          <a:solidFill>
            <a:srgbClr val="BE49DF">
              <a:alpha val="95000"/>
            </a:srgbClr>
          </a:solidFill>
          <a:ln/>
        </p:spPr>
      </p:sp>
      <p:sp>
        <p:nvSpPr>
          <p:cNvPr id="19" name="Text 13"/>
          <p:cNvSpPr/>
          <p:nvPr/>
        </p:nvSpPr>
        <p:spPr>
          <a:xfrm>
            <a:off x="542999" y="2127498"/>
            <a:ext cx="3924746" cy="102319"/>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Source Serif 4 SemiBold" pitchFamily="34" charset="0"/>
                <a:ea typeface="Source Serif 4 SemiBold" pitchFamily="34" charset="-122"/>
                <a:cs typeface="Source Serif 4 SemiBold" pitchFamily="34" charset="-120"/>
              </a:rPr>
              <a:t>Stateless Deployment Architecture</a:t>
            </a:r>
            <a:endParaRPr lang="en-US" sz="600" dirty="0"/>
          </a:p>
        </p:txBody>
      </p:sp>
      <p:sp>
        <p:nvSpPr>
          <p:cNvPr id="20" name="Text 14"/>
          <p:cNvSpPr/>
          <p:nvPr/>
        </p:nvSpPr>
        <p:spPr>
          <a:xfrm>
            <a:off x="542999" y="2266727"/>
            <a:ext cx="3924746" cy="255612"/>
          </a:xfrm>
          <a:prstGeom prst="rect">
            <a:avLst/>
          </a:prstGeom>
          <a:noFill/>
          <a:ln/>
        </p:spPr>
        <p:txBody>
          <a:bodyPr wrap="square" lIns="0" tIns="0" rIns="0" bIns="0" rtlCol="0" anchor="t">
            <a:normAutofit/>
          </a:bodyPr>
          <a:lstStyle/>
          <a:p>
            <a:pPr algn="l" indent="0" marL="0">
              <a:lnSpc>
                <a:spcPct val="102000"/>
              </a:lnSpc>
              <a:buNone/>
            </a:pPr>
            <a:r>
              <a:rPr lang="en-US" sz="500" dirty="0">
                <a:solidFill>
                  <a:srgbClr val="000000"/>
                </a:solidFill>
                <a:latin typeface="Source Sans 3" pitchFamily="34" charset="0"/>
                <a:ea typeface="Source Sans 3" pitchFamily="34" charset="-122"/>
                <a:cs typeface="Source Sans 3" pitchFamily="34" charset="-120"/>
              </a:rPr>
              <a:t>Socrates AI is designed for containerized deployment. The backend runs as a stateless FastAPI service behind Uvicorn workers, with all state persisted in Supabase PostgreSQL. This enables horizontal scaling via Docker Swarm or Kubernetes without session affinity requirements. Vercel handles frontend edge deployment with automatic CDN caching.</a:t>
            </a:r>
            <a:endParaRPr lang="en-US" sz="500" dirty="0"/>
          </a:p>
        </p:txBody>
      </p:sp>
      <p:sp>
        <p:nvSpPr>
          <p:cNvPr id="21" name="Text 15"/>
          <p:cNvSpPr/>
          <p:nvPr/>
        </p:nvSpPr>
        <p:spPr>
          <a:xfrm>
            <a:off x="4661595" y="2127498"/>
            <a:ext cx="3963591" cy="102319"/>
          </a:xfrm>
          <a:prstGeom prst="rect">
            <a:avLst/>
          </a:prstGeom>
          <a:noFill/>
          <a:ln/>
        </p:spPr>
        <p:txBody>
          <a:bodyPr wrap="none" lIns="0" tIns="0" rIns="0" bIns="0" rtlCol="0" anchor="t"/>
          <a:lstStyle/>
          <a:p>
            <a:pPr algn="l" indent="0" marL="0">
              <a:lnSpc>
                <a:spcPct val="104000"/>
              </a:lnSpc>
              <a:buNone/>
            </a:pPr>
            <a:r>
              <a:rPr lang="en-US" sz="600" dirty="0">
                <a:solidFill>
                  <a:srgbClr val="000000"/>
                </a:solidFill>
                <a:latin typeface="Source Serif 4 SemiBold" pitchFamily="34" charset="0"/>
                <a:ea typeface="Source Serif 4 SemiBold" pitchFamily="34" charset="-122"/>
                <a:cs typeface="Source Serif 4 SemiBold" pitchFamily="34" charset="-120"/>
              </a:rPr>
              <a:t>Scalability Guarantees</a:t>
            </a:r>
            <a:endParaRPr lang="en-US" sz="600" dirty="0"/>
          </a:p>
        </p:txBody>
      </p:sp>
      <p:sp>
        <p:nvSpPr>
          <p:cNvPr id="22" name="Text 16"/>
          <p:cNvSpPr/>
          <p:nvPr/>
        </p:nvSpPr>
        <p:spPr>
          <a:xfrm>
            <a:off x="4661595" y="2306092"/>
            <a:ext cx="3963591" cy="229493"/>
          </a:xfrm>
          <a:prstGeom prst="rect">
            <a:avLst/>
          </a:prstGeom>
          <a:noFill/>
          <a:ln/>
        </p:spPr>
        <p:txBody>
          <a:bodyPr wrap="none" lIns="0" tIns="0" rIns="0" bIns="0" rtlCol="0" anchor="t"/>
          <a:lstStyle/>
          <a:p>
            <a:pPr algn="ctr" indent="0" marL="0">
              <a:lnSpc>
                <a:spcPct val="83000"/>
              </a:lnSpc>
              <a:buNone/>
            </a:pPr>
            <a:r>
              <a:rPr lang="en-US" sz="1800" dirty="0">
                <a:solidFill>
                  <a:srgbClr val="272525"/>
                </a:solidFill>
                <a:latin typeface="Source Serif 4 SemiBold" pitchFamily="34" charset="0"/>
                <a:ea typeface="Source Serif 4 SemiBold" pitchFamily="34" charset="-122"/>
                <a:cs typeface="Source Serif 4 SemiBold" pitchFamily="34" charset="-120"/>
              </a:rPr>
              <a:t>500+</a:t>
            </a:r>
            <a:endParaRPr lang="en-US" sz="1800" dirty="0"/>
          </a:p>
        </p:txBody>
      </p:sp>
      <p:sp>
        <p:nvSpPr>
          <p:cNvPr id="23" name="Text 17"/>
          <p:cNvSpPr/>
          <p:nvPr/>
        </p:nvSpPr>
        <p:spPr>
          <a:xfrm>
            <a:off x="4661595" y="2598018"/>
            <a:ext cx="3963591" cy="102319"/>
          </a:xfrm>
          <a:prstGeom prst="rect">
            <a:avLst/>
          </a:prstGeom>
          <a:noFill/>
          <a:ln/>
        </p:spPr>
        <p:txBody>
          <a:bodyPr wrap="none" lIns="0" tIns="0" rIns="0" bIns="0" rtlCol="0" anchor="t"/>
          <a:lstStyle/>
          <a:p>
            <a:pPr algn="ctr"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Tokens/sec</a:t>
            </a:r>
            <a:endParaRPr lang="en-US" sz="600" dirty="0"/>
          </a:p>
        </p:txBody>
      </p:sp>
      <p:sp>
        <p:nvSpPr>
          <p:cNvPr id="24" name="Text 18"/>
          <p:cNvSpPr/>
          <p:nvPr/>
        </p:nvSpPr>
        <p:spPr>
          <a:xfrm>
            <a:off x="4661595" y="2737247"/>
            <a:ext cx="3963591" cy="85204"/>
          </a:xfrm>
          <a:prstGeom prst="rect">
            <a:avLst/>
          </a:prstGeom>
          <a:noFill/>
          <a:ln/>
        </p:spPr>
        <p:txBody>
          <a:bodyPr wrap="none" lIns="0" tIns="0" rIns="0" bIns="0" rtlCol="0" anchor="t"/>
          <a:lstStyle/>
          <a:p>
            <a:pPr algn="ctr"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Groq LPU inference throughput for Llama-3.3-70B</a:t>
            </a:r>
            <a:endParaRPr lang="en-US" sz="500" dirty="0"/>
          </a:p>
        </p:txBody>
      </p:sp>
      <p:sp>
        <p:nvSpPr>
          <p:cNvPr id="25" name="Text 19"/>
          <p:cNvSpPr/>
          <p:nvPr/>
        </p:nvSpPr>
        <p:spPr>
          <a:xfrm>
            <a:off x="4661595" y="2931096"/>
            <a:ext cx="3963591" cy="229493"/>
          </a:xfrm>
          <a:prstGeom prst="rect">
            <a:avLst/>
          </a:prstGeom>
          <a:noFill/>
          <a:ln/>
        </p:spPr>
        <p:txBody>
          <a:bodyPr wrap="none" lIns="0" tIns="0" rIns="0" bIns="0" rtlCol="0" anchor="t"/>
          <a:lstStyle/>
          <a:p>
            <a:pPr algn="ctr" indent="0" marL="0">
              <a:lnSpc>
                <a:spcPct val="83000"/>
              </a:lnSpc>
              <a:buNone/>
            </a:pPr>
            <a:r>
              <a:rPr lang="en-US" sz="1800" dirty="0">
                <a:solidFill>
                  <a:srgbClr val="272525"/>
                </a:solidFill>
                <a:latin typeface="Source Serif 4 SemiBold" pitchFamily="34" charset="0"/>
                <a:ea typeface="Source Serif 4 SemiBold" pitchFamily="34" charset="-122"/>
                <a:cs typeface="Source Serif 4 SemiBold" pitchFamily="34" charset="-120"/>
              </a:rPr>
              <a:t>10ms</a:t>
            </a:r>
            <a:endParaRPr lang="en-US" sz="1800" dirty="0"/>
          </a:p>
        </p:txBody>
      </p:sp>
      <p:sp>
        <p:nvSpPr>
          <p:cNvPr id="26" name="Text 20"/>
          <p:cNvSpPr/>
          <p:nvPr/>
        </p:nvSpPr>
        <p:spPr>
          <a:xfrm>
            <a:off x="4661595" y="3223022"/>
            <a:ext cx="3963591" cy="102319"/>
          </a:xfrm>
          <a:prstGeom prst="rect">
            <a:avLst/>
          </a:prstGeom>
          <a:noFill/>
          <a:ln/>
        </p:spPr>
        <p:txBody>
          <a:bodyPr wrap="none" lIns="0" tIns="0" rIns="0" bIns="0" rtlCol="0" anchor="t"/>
          <a:lstStyle/>
          <a:p>
            <a:pPr algn="ctr"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Vector Search</a:t>
            </a:r>
            <a:endParaRPr lang="en-US" sz="600" dirty="0"/>
          </a:p>
        </p:txBody>
      </p:sp>
      <p:sp>
        <p:nvSpPr>
          <p:cNvPr id="27" name="Text 21"/>
          <p:cNvSpPr/>
          <p:nvPr/>
        </p:nvSpPr>
        <p:spPr>
          <a:xfrm>
            <a:off x="4661595" y="3362251"/>
            <a:ext cx="3963591" cy="85204"/>
          </a:xfrm>
          <a:prstGeom prst="rect">
            <a:avLst/>
          </a:prstGeom>
          <a:noFill/>
          <a:ln/>
        </p:spPr>
        <p:txBody>
          <a:bodyPr wrap="none" lIns="0" tIns="0" rIns="0" bIns="0" rtlCol="0" anchor="t"/>
          <a:lstStyle/>
          <a:p>
            <a:pPr algn="ctr"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pgvector HNSW cosine similarity at 1M+ embeddings</a:t>
            </a:r>
            <a:endParaRPr lang="en-US" sz="500" dirty="0"/>
          </a:p>
        </p:txBody>
      </p:sp>
      <p:sp>
        <p:nvSpPr>
          <p:cNvPr id="28" name="Text 22"/>
          <p:cNvSpPr/>
          <p:nvPr/>
        </p:nvSpPr>
        <p:spPr>
          <a:xfrm>
            <a:off x="4661595" y="3556099"/>
            <a:ext cx="3963591" cy="229493"/>
          </a:xfrm>
          <a:prstGeom prst="rect">
            <a:avLst/>
          </a:prstGeom>
          <a:noFill/>
          <a:ln/>
        </p:spPr>
        <p:txBody>
          <a:bodyPr wrap="none" lIns="0" tIns="0" rIns="0" bIns="0" rtlCol="0" anchor="t"/>
          <a:lstStyle/>
          <a:p>
            <a:pPr algn="ctr" indent="0" marL="0">
              <a:lnSpc>
                <a:spcPct val="83000"/>
              </a:lnSpc>
              <a:buNone/>
            </a:pPr>
            <a:r>
              <a:rPr lang="en-US" sz="1800" dirty="0">
                <a:solidFill>
                  <a:srgbClr val="272525"/>
                </a:solidFill>
                <a:latin typeface="Source Serif 4 SemiBold" pitchFamily="34" charset="0"/>
                <a:ea typeface="Source Serif 4 SemiBold" pitchFamily="34" charset="-122"/>
                <a:cs typeface="Source Serif 4 SemiBold" pitchFamily="34" charset="-120"/>
              </a:rPr>
              <a:t>50</a:t>
            </a:r>
            <a:endParaRPr lang="en-US" sz="1800" dirty="0"/>
          </a:p>
        </p:txBody>
      </p:sp>
      <p:sp>
        <p:nvSpPr>
          <p:cNvPr id="29" name="Text 23"/>
          <p:cNvSpPr/>
          <p:nvPr/>
        </p:nvSpPr>
        <p:spPr>
          <a:xfrm>
            <a:off x="4661595" y="3848026"/>
            <a:ext cx="3963591" cy="102319"/>
          </a:xfrm>
          <a:prstGeom prst="rect">
            <a:avLst/>
          </a:prstGeom>
          <a:noFill/>
          <a:ln/>
        </p:spPr>
        <p:txBody>
          <a:bodyPr wrap="none" lIns="0" tIns="0" rIns="0" bIns="0" rtlCol="0" anchor="t"/>
          <a:lstStyle/>
          <a:p>
            <a:pPr algn="ctr"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Max Log Buffer</a:t>
            </a:r>
            <a:endParaRPr lang="en-US" sz="600" dirty="0"/>
          </a:p>
        </p:txBody>
      </p:sp>
      <p:sp>
        <p:nvSpPr>
          <p:cNvPr id="30" name="Text 24"/>
          <p:cNvSpPr/>
          <p:nvPr/>
        </p:nvSpPr>
        <p:spPr>
          <a:xfrm>
            <a:off x="4661595" y="3987254"/>
            <a:ext cx="3963591" cy="85204"/>
          </a:xfrm>
          <a:prstGeom prst="rect">
            <a:avLst/>
          </a:prstGeom>
          <a:noFill/>
          <a:ln/>
        </p:spPr>
        <p:txBody>
          <a:bodyPr wrap="none" lIns="0" tIns="0" rIns="0" bIns="0" rtlCol="0" anchor="t"/>
          <a:lstStyle/>
          <a:p>
            <a:pPr algn="ctr"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Capped terminal log array preventing memory bloat</a:t>
            </a:r>
            <a:endParaRPr lang="en-US" sz="500" dirty="0"/>
          </a:p>
        </p:txBody>
      </p:sp>
      <p:sp>
        <p:nvSpPr>
          <p:cNvPr id="31" name="Text 25"/>
          <p:cNvSpPr/>
          <p:nvPr/>
        </p:nvSpPr>
        <p:spPr>
          <a:xfrm>
            <a:off x="4661595" y="4181103"/>
            <a:ext cx="3963591" cy="229493"/>
          </a:xfrm>
          <a:prstGeom prst="rect">
            <a:avLst/>
          </a:prstGeom>
          <a:noFill/>
          <a:ln/>
        </p:spPr>
        <p:txBody>
          <a:bodyPr wrap="none" lIns="0" tIns="0" rIns="0" bIns="0" rtlCol="0" anchor="t"/>
          <a:lstStyle/>
          <a:p>
            <a:pPr algn="ctr" indent="0" marL="0">
              <a:lnSpc>
                <a:spcPct val="83000"/>
              </a:lnSpc>
              <a:buNone/>
            </a:pPr>
            <a:r>
              <a:rPr lang="en-US" sz="1800" dirty="0">
                <a:solidFill>
                  <a:srgbClr val="272525"/>
                </a:solidFill>
                <a:latin typeface="Source Serif 4 SemiBold" pitchFamily="34" charset="0"/>
                <a:ea typeface="Source Serif 4 SemiBold" pitchFamily="34" charset="-122"/>
                <a:cs typeface="Source Serif 4 SemiBold" pitchFamily="34" charset="-120"/>
              </a:rPr>
              <a:t>0.5s</a:t>
            </a:r>
            <a:endParaRPr lang="en-US" sz="1800" dirty="0"/>
          </a:p>
        </p:txBody>
      </p:sp>
      <p:sp>
        <p:nvSpPr>
          <p:cNvPr id="32" name="Text 26"/>
          <p:cNvSpPr/>
          <p:nvPr/>
        </p:nvSpPr>
        <p:spPr>
          <a:xfrm>
            <a:off x="4661595" y="4473029"/>
            <a:ext cx="3963591" cy="102319"/>
          </a:xfrm>
          <a:prstGeom prst="rect">
            <a:avLst/>
          </a:prstGeom>
          <a:noFill/>
          <a:ln/>
        </p:spPr>
        <p:txBody>
          <a:bodyPr wrap="none" lIns="0" tIns="0" rIns="0" bIns="0" rtlCol="0" anchor="t"/>
          <a:lstStyle/>
          <a:p>
            <a:pPr algn="ctr" indent="0" marL="0">
              <a:lnSpc>
                <a:spcPct val="104000"/>
              </a:lnSpc>
              <a:buNone/>
            </a:pPr>
            <a:r>
              <a:rPr lang="en-US" sz="600" dirty="0">
                <a:solidFill>
                  <a:srgbClr val="272525"/>
                </a:solidFill>
                <a:latin typeface="Source Serif 4 SemiBold" pitchFamily="34" charset="0"/>
                <a:ea typeface="Source Serif 4 SemiBold" pitchFamily="34" charset="-122"/>
                <a:cs typeface="Source Serif 4 SemiBold" pitchFamily="34" charset="-120"/>
              </a:rPr>
              <a:t>Cache Hit Latency</a:t>
            </a:r>
            <a:endParaRPr lang="en-US" sz="600" dirty="0"/>
          </a:p>
        </p:txBody>
      </p:sp>
      <p:sp>
        <p:nvSpPr>
          <p:cNvPr id="33" name="Text 27"/>
          <p:cNvSpPr/>
          <p:nvPr/>
        </p:nvSpPr>
        <p:spPr>
          <a:xfrm>
            <a:off x="4661595" y="4612258"/>
            <a:ext cx="3963591" cy="85204"/>
          </a:xfrm>
          <a:prstGeom prst="rect">
            <a:avLst/>
          </a:prstGeom>
          <a:noFill/>
          <a:ln/>
        </p:spPr>
        <p:txBody>
          <a:bodyPr wrap="none" lIns="0" tIns="0" rIns="0" bIns="0" rtlCol="0" anchor="t"/>
          <a:lstStyle/>
          <a:p>
            <a:pPr algn="ctr" indent="0" marL="0">
              <a:lnSpc>
                <a:spcPct val="102000"/>
              </a:lnSpc>
              <a:buNone/>
            </a:pPr>
            <a:r>
              <a:rPr lang="en-US" sz="500" dirty="0">
                <a:solidFill>
                  <a:srgbClr val="272525"/>
                </a:solidFill>
                <a:latin typeface="Source Sans 3" pitchFamily="34" charset="0"/>
                <a:ea typeface="Source Sans 3" pitchFamily="34" charset="-122"/>
                <a:cs typeface="Source Sans 3" pitchFamily="34" charset="-120"/>
              </a:rPr>
              <a:t>PostgreSQL cache barrier bypass for repeated queries</a:t>
            </a:r>
            <a:endParaRPr lang="en-US" sz="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2026-07-15T12:36:21Z</dcterms:created>
  <dcterms:modified xsi:type="dcterms:W3CDTF">2026-07-15T12:36:21Z</dcterms:modified>
</cp:coreProperties>
</file>